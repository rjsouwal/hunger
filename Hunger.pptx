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62" r:id="rId2"/>
    <p:sldId id="256" r:id="rId3"/>
    <p:sldId id="257" r:id="rId4"/>
    <p:sldId id="258" r:id="rId5"/>
    <p:sldId id="260" r:id="rId6"/>
    <p:sldId id="261"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A37"/>
    <a:srgbClr val="6DF6F9"/>
    <a:srgbClr val="FFFF00"/>
    <a:srgbClr val="00863D"/>
    <a:srgbClr val="00FFFF"/>
    <a:srgbClr val="33CCFF"/>
    <a:srgbClr val="FF9933"/>
    <a:srgbClr val="FFFFFF"/>
    <a:srgbClr val="FF3399"/>
    <a:srgbClr val="4F32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093" autoAdjust="0"/>
    <p:restoredTop sz="94660"/>
  </p:normalViewPr>
  <p:slideViewPr>
    <p:cSldViewPr snapToGrid="0">
      <p:cViewPr>
        <p:scale>
          <a:sx n="60" d="100"/>
          <a:sy n="60" d="100"/>
        </p:scale>
        <p:origin x="78"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71E8497-C671-4A82-88CF-D6CDC45E74AE}" type="datetimeFigureOut">
              <a:rPr lang="en-US" smtClean="0"/>
              <a:t>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C8FD6A-1767-4C40-9F18-19CC62138A19}" type="slidenum">
              <a:rPr lang="en-US" smtClean="0"/>
              <a:t>‹#›</a:t>
            </a:fld>
            <a:endParaRPr lang="en-US"/>
          </a:p>
        </p:txBody>
      </p:sp>
    </p:spTree>
    <p:extLst>
      <p:ext uri="{BB962C8B-B14F-4D97-AF65-F5344CB8AC3E}">
        <p14:creationId xmlns:p14="http://schemas.microsoft.com/office/powerpoint/2010/main" val="4070137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71E8497-C671-4A82-88CF-D6CDC45E74AE}" type="datetimeFigureOut">
              <a:rPr lang="en-US" smtClean="0"/>
              <a:t>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C8FD6A-1767-4C40-9F18-19CC62138A19}" type="slidenum">
              <a:rPr lang="en-US" smtClean="0"/>
              <a:t>‹#›</a:t>
            </a:fld>
            <a:endParaRPr lang="en-US"/>
          </a:p>
        </p:txBody>
      </p:sp>
    </p:spTree>
    <p:extLst>
      <p:ext uri="{BB962C8B-B14F-4D97-AF65-F5344CB8AC3E}">
        <p14:creationId xmlns:p14="http://schemas.microsoft.com/office/powerpoint/2010/main" val="2817762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71E8497-C671-4A82-88CF-D6CDC45E74AE}" type="datetimeFigureOut">
              <a:rPr lang="en-US" smtClean="0"/>
              <a:t>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C8FD6A-1767-4C40-9F18-19CC62138A19}" type="slidenum">
              <a:rPr lang="en-US" smtClean="0"/>
              <a:t>‹#›</a:t>
            </a:fld>
            <a:endParaRPr lang="en-US"/>
          </a:p>
        </p:txBody>
      </p:sp>
    </p:spTree>
    <p:extLst>
      <p:ext uri="{BB962C8B-B14F-4D97-AF65-F5344CB8AC3E}">
        <p14:creationId xmlns:p14="http://schemas.microsoft.com/office/powerpoint/2010/main" val="3725537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71E8497-C671-4A82-88CF-D6CDC45E74AE}" type="datetimeFigureOut">
              <a:rPr lang="en-US" smtClean="0"/>
              <a:t>1/12/2020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C8FD6A-1767-4C40-9F18-19CC62138A19}" type="slidenum">
              <a:rPr lang="en-US" smtClean="0"/>
              <a:t>‹#›</a:t>
            </a:fld>
            <a:endParaRPr lang="en-US"/>
          </a:p>
        </p:txBody>
      </p:sp>
    </p:spTree>
    <p:extLst>
      <p:ext uri="{BB962C8B-B14F-4D97-AF65-F5344CB8AC3E}">
        <p14:creationId xmlns:p14="http://schemas.microsoft.com/office/powerpoint/2010/main" val="2258968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71E8497-C671-4A82-88CF-D6CDC45E74AE}" type="datetimeFigureOut">
              <a:rPr lang="en-US" smtClean="0"/>
              <a:t>1/12/2020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C8FD6A-1767-4C40-9F18-19CC62138A19}" type="slidenum">
              <a:rPr lang="en-US" smtClean="0"/>
              <a:t>‹#›</a:t>
            </a:fld>
            <a:endParaRPr lang="en-US"/>
          </a:p>
        </p:txBody>
      </p:sp>
    </p:spTree>
    <p:extLst>
      <p:ext uri="{BB962C8B-B14F-4D97-AF65-F5344CB8AC3E}">
        <p14:creationId xmlns:p14="http://schemas.microsoft.com/office/powerpoint/2010/main" val="259771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871E8497-C671-4A82-88CF-D6CDC45E74AE}" type="datetimeFigureOut">
              <a:rPr lang="en-US" smtClean="0"/>
              <a:t>1/12/2020</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46C8FD6A-1767-4C40-9F18-19CC62138A19}" type="slidenum">
              <a:rPr lang="en-US" smtClean="0"/>
              <a:t>‹#›</a:t>
            </a:fld>
            <a:endParaRPr lang="en-US"/>
          </a:p>
        </p:txBody>
      </p:sp>
    </p:spTree>
    <p:extLst>
      <p:ext uri="{BB962C8B-B14F-4D97-AF65-F5344CB8AC3E}">
        <p14:creationId xmlns:p14="http://schemas.microsoft.com/office/powerpoint/2010/main" val="2859464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71E8497-C671-4A82-88CF-D6CDC45E74AE}" type="datetimeFigureOut">
              <a:rPr lang="en-US" smtClean="0"/>
              <a:t>1/12/2020</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46C8FD6A-1767-4C40-9F18-19CC62138A19}" type="slidenum">
              <a:rPr lang="en-US" smtClean="0"/>
              <a:t>‹#›</a:t>
            </a:fld>
            <a:endParaRPr lang="en-US"/>
          </a:p>
        </p:txBody>
      </p:sp>
    </p:spTree>
    <p:extLst>
      <p:ext uri="{BB962C8B-B14F-4D97-AF65-F5344CB8AC3E}">
        <p14:creationId xmlns:p14="http://schemas.microsoft.com/office/powerpoint/2010/main" val="2267004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871E8497-C671-4A82-88CF-D6CDC45E74AE}" type="datetimeFigureOut">
              <a:rPr lang="en-US" smtClean="0"/>
              <a:t>1/12/2020</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46C8FD6A-1767-4C40-9F18-19CC62138A19}" type="slidenum">
              <a:rPr lang="en-US" smtClean="0"/>
              <a:t>‹#›</a:t>
            </a:fld>
            <a:endParaRPr lang="en-US"/>
          </a:p>
        </p:txBody>
      </p:sp>
    </p:spTree>
    <p:extLst>
      <p:ext uri="{BB962C8B-B14F-4D97-AF65-F5344CB8AC3E}">
        <p14:creationId xmlns:p14="http://schemas.microsoft.com/office/powerpoint/2010/main" val="3231819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71E8497-C671-4A82-88CF-D6CDC45E74AE}" type="datetimeFigureOut">
              <a:rPr lang="en-US" smtClean="0"/>
              <a:t>1/12/2020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C8FD6A-1767-4C40-9F18-19CC62138A19}" type="slidenum">
              <a:rPr lang="en-US" smtClean="0"/>
              <a:t>‹#›</a:t>
            </a:fld>
            <a:endParaRPr lang="en-US"/>
          </a:p>
        </p:txBody>
      </p:sp>
    </p:spTree>
    <p:extLst>
      <p:ext uri="{BB962C8B-B14F-4D97-AF65-F5344CB8AC3E}">
        <p14:creationId xmlns:p14="http://schemas.microsoft.com/office/powerpoint/2010/main" val="2941232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71E8497-C671-4A82-88CF-D6CDC45E74AE}" type="datetimeFigureOut">
              <a:rPr lang="en-US" smtClean="0"/>
              <a:t>1/12/2020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C8FD6A-1767-4C40-9F18-19CC62138A19}" type="slidenum">
              <a:rPr lang="en-US" smtClean="0"/>
              <a:t>‹#›</a:t>
            </a:fld>
            <a:endParaRPr lang="en-US"/>
          </a:p>
        </p:txBody>
      </p:sp>
    </p:spTree>
    <p:extLst>
      <p:ext uri="{BB962C8B-B14F-4D97-AF65-F5344CB8AC3E}">
        <p14:creationId xmlns:p14="http://schemas.microsoft.com/office/powerpoint/2010/main" val="225514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71E8497-C671-4A82-88CF-D6CDC45E74AE}" type="datetimeFigureOut">
              <a:rPr lang="en-US" smtClean="0"/>
              <a:t>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C8FD6A-1767-4C40-9F18-19CC62138A19}" type="slidenum">
              <a:rPr lang="en-US" smtClean="0"/>
              <a:t>‹#›</a:t>
            </a:fld>
            <a:endParaRPr lang="en-US"/>
          </a:p>
        </p:txBody>
      </p:sp>
    </p:spTree>
    <p:extLst>
      <p:ext uri="{BB962C8B-B14F-4D97-AF65-F5344CB8AC3E}">
        <p14:creationId xmlns:p14="http://schemas.microsoft.com/office/powerpoint/2010/main" val="42533444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4" name="Text Placeholder 3"/>
          <p:cNvSpPr>
            <a:spLocks noGrp="1"/>
          </p:cNvSpPr>
          <p:nvPr>
            <p:ph type="body" sz="half" idx="13"/>
          </p:nvPr>
        </p:nvSpPr>
        <p:spPr>
          <a:xfrm>
            <a:off x="1930400" y="3771174"/>
            <a:ext cx="7385828"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71E8497-C671-4A82-88CF-D6CDC45E74AE}" type="datetimeFigureOut">
              <a:rPr lang="en-US" smtClean="0"/>
              <a:t>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C8FD6A-1767-4C40-9F18-19CC62138A19}" type="slidenum">
              <a:rPr lang="en-US" smtClean="0"/>
              <a:t>‹#›</a:t>
            </a:fld>
            <a:endParaRPr lang="en-US"/>
          </a:p>
        </p:txBody>
      </p:sp>
      <p:sp>
        <p:nvSpPr>
          <p:cNvPr id="11" name="TextBox 10"/>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9700459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71E8497-C671-4A82-88CF-D6CDC45E74AE}" type="datetimeFigureOut">
              <a:rPr lang="en-US" smtClean="0"/>
              <a:t>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C8FD6A-1767-4C40-9F18-19CC62138A19}" type="slidenum">
              <a:rPr lang="en-US" smtClean="0"/>
              <a:t>‹#›</a:t>
            </a:fld>
            <a:endParaRPr lang="en-US"/>
          </a:p>
        </p:txBody>
      </p:sp>
    </p:spTree>
    <p:extLst>
      <p:ext uri="{BB962C8B-B14F-4D97-AF65-F5344CB8AC3E}">
        <p14:creationId xmlns:p14="http://schemas.microsoft.com/office/powerpoint/2010/main" val="3601945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71E8497-C671-4A82-88CF-D6CDC45E74AE}" type="datetimeFigureOut">
              <a:rPr lang="en-US" smtClean="0"/>
              <a:t>1/12/2020</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C8FD6A-1767-4C40-9F18-19CC62138A19}" type="slidenum">
              <a:rPr lang="en-US" smtClean="0"/>
              <a:t>‹#›</a:t>
            </a:fld>
            <a:endParaRPr lang="en-US"/>
          </a:p>
        </p:txBody>
      </p:sp>
    </p:spTree>
    <p:extLst>
      <p:ext uri="{BB962C8B-B14F-4D97-AF65-F5344CB8AC3E}">
        <p14:creationId xmlns:p14="http://schemas.microsoft.com/office/powerpoint/2010/main" val="3975402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71E8497-C671-4A82-88CF-D6CDC45E74AE}" type="datetimeFigureOut">
              <a:rPr lang="en-US" smtClean="0"/>
              <a:t>1/12/2020</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C8FD6A-1767-4C40-9F18-19CC62138A19}" type="slidenum">
              <a:rPr lang="en-US" smtClean="0"/>
              <a:t>‹#›</a:t>
            </a:fld>
            <a:endParaRPr lang="en-US"/>
          </a:p>
        </p:txBody>
      </p:sp>
    </p:spTree>
    <p:extLst>
      <p:ext uri="{BB962C8B-B14F-4D97-AF65-F5344CB8AC3E}">
        <p14:creationId xmlns:p14="http://schemas.microsoft.com/office/powerpoint/2010/main" val="29482768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1E8497-C671-4A82-88CF-D6CDC45E74AE}" type="datetimeFigureOut">
              <a:rPr lang="en-US" smtClean="0"/>
              <a:t>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C8FD6A-1767-4C40-9F18-19CC62138A19}" type="slidenum">
              <a:rPr lang="en-US" smtClean="0"/>
              <a:t>‹#›</a:t>
            </a:fld>
            <a:endParaRPr lang="en-US"/>
          </a:p>
        </p:txBody>
      </p:sp>
    </p:spTree>
    <p:extLst>
      <p:ext uri="{BB962C8B-B14F-4D97-AF65-F5344CB8AC3E}">
        <p14:creationId xmlns:p14="http://schemas.microsoft.com/office/powerpoint/2010/main" val="26312616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1E8497-C671-4A82-88CF-D6CDC45E74AE}" type="datetimeFigureOut">
              <a:rPr lang="en-US" smtClean="0"/>
              <a:t>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C8FD6A-1767-4C40-9F18-19CC62138A19}" type="slidenum">
              <a:rPr lang="en-US" smtClean="0"/>
              <a:t>‹#›</a:t>
            </a:fld>
            <a:endParaRPr lang="en-US"/>
          </a:p>
        </p:txBody>
      </p:sp>
    </p:spTree>
    <p:extLst>
      <p:ext uri="{BB962C8B-B14F-4D97-AF65-F5344CB8AC3E}">
        <p14:creationId xmlns:p14="http://schemas.microsoft.com/office/powerpoint/2010/main" val="1731649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71E8497-C671-4A82-88CF-D6CDC45E74AE}" type="datetimeFigureOut">
              <a:rPr lang="en-US" smtClean="0"/>
              <a:t>1/12/2020</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6C8FD6A-1767-4C40-9F18-19CC62138A19}" type="slidenum">
              <a:rPr lang="en-US" smtClean="0"/>
              <a:t>‹#›</a:t>
            </a:fld>
            <a:endParaRPr lang="en-US"/>
          </a:p>
        </p:txBody>
      </p:sp>
    </p:spTree>
    <p:extLst>
      <p:ext uri="{BB962C8B-B14F-4D97-AF65-F5344CB8AC3E}">
        <p14:creationId xmlns:p14="http://schemas.microsoft.com/office/powerpoint/2010/main" val="3316314891"/>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b="9505"/>
          <a:stretch/>
        </p:blipFill>
        <p:spPr>
          <a:xfrm>
            <a:off x="0" y="0"/>
            <a:ext cx="12192000" cy="6898105"/>
          </a:xfrm>
          <a:prstGeom prst="rect">
            <a:avLst/>
          </a:prstGeom>
        </p:spPr>
      </p:pic>
    </p:spTree>
    <p:extLst>
      <p:ext uri="{BB962C8B-B14F-4D97-AF65-F5344CB8AC3E}">
        <p14:creationId xmlns:p14="http://schemas.microsoft.com/office/powerpoint/2010/main" val="1971663024"/>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018868"/>
            <a:ext cx="5774706" cy="5301722"/>
          </a:xfrm>
        </p:spPr>
        <p:txBody>
          <a:bodyPr anchor="ctr">
            <a:noAutofit/>
          </a:bodyPr>
          <a:lstStyle/>
          <a:p>
            <a:pPr algn="ctr">
              <a:spcBef>
                <a:spcPts val="0"/>
              </a:spcBef>
            </a:pPr>
            <a:r>
              <a:rPr lang="en-US" sz="11000" spc="-150" dirty="0" smtClean="0">
                <a:solidFill>
                  <a:srgbClr val="FFFF00"/>
                </a:solidFill>
                <a:latin typeface="Algerian" panose="04020705040A02060702" pitchFamily="82" charset="0"/>
              </a:rPr>
              <a:t>Hunger</a:t>
            </a:r>
            <a:br>
              <a:rPr lang="en-US" sz="11000" spc="-150" dirty="0" smtClean="0">
                <a:solidFill>
                  <a:srgbClr val="FFFF00"/>
                </a:solidFill>
                <a:latin typeface="Algerian" panose="04020705040A02060702" pitchFamily="82" charset="0"/>
              </a:rPr>
            </a:br>
            <a:r>
              <a:rPr lang="en-US" sz="11000" spc="-150" dirty="0" smtClean="0">
                <a:solidFill>
                  <a:srgbClr val="FFFF00"/>
                </a:solidFill>
                <a:latin typeface="Algerian" panose="04020705040A02060702" pitchFamily="82" charset="0"/>
              </a:rPr>
              <a:t>in</a:t>
            </a:r>
            <a:r>
              <a:rPr lang="en-US" sz="11000" spc="-150" dirty="0" smtClean="0">
                <a:solidFill>
                  <a:srgbClr val="2501FF"/>
                </a:solidFill>
                <a:latin typeface="Algerian" panose="04020705040A02060702" pitchFamily="82" charset="0"/>
              </a:rPr>
              <a:t/>
            </a:r>
            <a:br>
              <a:rPr lang="en-US" sz="11000" spc="-150" dirty="0" smtClean="0">
                <a:solidFill>
                  <a:srgbClr val="2501FF"/>
                </a:solidFill>
                <a:latin typeface="Algerian" panose="04020705040A02060702" pitchFamily="82" charset="0"/>
              </a:rPr>
            </a:br>
            <a:r>
              <a:rPr lang="en-US" sz="11000" u="sng" spc="-150" dirty="0" smtClean="0">
                <a:solidFill>
                  <a:srgbClr val="FA9106"/>
                </a:solidFill>
                <a:effectLst>
                  <a:glow rad="139700">
                    <a:srgbClr val="00B0F0">
                      <a:alpha val="81000"/>
                    </a:srgbClr>
                  </a:glow>
                </a:effectLst>
                <a:latin typeface="Algerian" panose="04020705040A02060702" pitchFamily="82" charset="0"/>
              </a:rPr>
              <a:t>In</a:t>
            </a:r>
            <a:r>
              <a:rPr lang="en-US" sz="11000" u="sng" spc="-150" dirty="0" smtClean="0">
                <a:solidFill>
                  <a:schemeClr val="tx1"/>
                </a:solidFill>
                <a:effectLst>
                  <a:glow rad="139700">
                    <a:srgbClr val="00B0F0">
                      <a:alpha val="81000"/>
                    </a:srgbClr>
                  </a:glow>
                </a:effectLst>
                <a:latin typeface="Algerian" panose="04020705040A02060702" pitchFamily="82" charset="0"/>
              </a:rPr>
              <a:t>d</a:t>
            </a:r>
            <a:r>
              <a:rPr lang="en-US" sz="11000" u="sng" spc="-150" dirty="0" smtClean="0">
                <a:solidFill>
                  <a:srgbClr val="00863D"/>
                </a:solidFill>
                <a:effectLst>
                  <a:glow rad="139700">
                    <a:srgbClr val="00B0F0">
                      <a:alpha val="81000"/>
                    </a:srgbClr>
                  </a:glow>
                </a:effectLst>
                <a:latin typeface="Algerian" panose="04020705040A02060702" pitchFamily="82" charset="0"/>
              </a:rPr>
              <a:t>ia</a:t>
            </a:r>
            <a:r>
              <a:rPr lang="en-US" sz="11000" spc="-150" dirty="0" smtClean="0">
                <a:solidFill>
                  <a:srgbClr val="FFC000"/>
                </a:solidFill>
                <a:effectLst>
                  <a:glow rad="254000">
                    <a:srgbClr val="00B0F0">
                      <a:alpha val="81000"/>
                    </a:srgbClr>
                  </a:glow>
                </a:effectLst>
                <a:latin typeface="Algerian" panose="04020705040A02060702" pitchFamily="82" charset="0"/>
              </a:rPr>
              <a:t> </a:t>
            </a:r>
            <a:endParaRPr lang="en-US" sz="11000" u="sng" spc="-150" dirty="0">
              <a:solidFill>
                <a:srgbClr val="0070C0"/>
              </a:solidFill>
              <a:effectLst>
                <a:glow rad="254000">
                  <a:srgbClr val="00B0F0">
                    <a:alpha val="81000"/>
                  </a:srgbClr>
                </a:glow>
              </a:effectLst>
              <a:latin typeface="Algerian" panose="04020705040A02060702" pitchFamily="82" charset="0"/>
            </a:endParaRPr>
          </a:p>
        </p:txBody>
      </p:sp>
      <p:sp>
        <p:nvSpPr>
          <p:cNvPr id="3" name="TextBox 2"/>
          <p:cNvSpPr txBox="1"/>
          <p:nvPr/>
        </p:nvSpPr>
        <p:spPr>
          <a:xfrm>
            <a:off x="4170948" y="2638345"/>
            <a:ext cx="2326105" cy="2646878"/>
          </a:xfrm>
          <a:prstGeom prst="rect">
            <a:avLst/>
          </a:prstGeom>
          <a:noFill/>
        </p:spPr>
        <p:txBody>
          <a:bodyPr wrap="square" rtlCol="0">
            <a:spAutoFit/>
          </a:bodyPr>
          <a:lstStyle/>
          <a:p>
            <a:r>
              <a:rPr lang="en-IN" sz="16600" spc="-300" dirty="0" smtClean="0">
                <a:solidFill>
                  <a:srgbClr val="FFFF00"/>
                </a:solidFill>
                <a:latin typeface="Edwardian Script ITC" panose="030303020407070D0804" pitchFamily="66" charset="0"/>
              </a:rPr>
              <a:t>Vs</a:t>
            </a:r>
            <a:endParaRPr lang="en-IN" sz="16600" spc="-300" dirty="0">
              <a:solidFill>
                <a:srgbClr val="FFFF00"/>
              </a:solidFill>
              <a:latin typeface="Edwardian Script ITC" panose="030303020407070D0804" pitchFamily="66" charset="0"/>
            </a:endParaRPr>
          </a:p>
        </p:txBody>
      </p:sp>
      <p:sp>
        <p:nvSpPr>
          <p:cNvPr id="4" name="TextBox 3"/>
          <p:cNvSpPr txBox="1"/>
          <p:nvPr/>
        </p:nvSpPr>
        <p:spPr>
          <a:xfrm>
            <a:off x="6127632" y="1149944"/>
            <a:ext cx="5599147" cy="5170646"/>
          </a:xfrm>
          <a:prstGeom prst="rect">
            <a:avLst/>
          </a:prstGeom>
          <a:noFill/>
        </p:spPr>
        <p:txBody>
          <a:bodyPr wrap="square" rtlCol="0">
            <a:spAutoFit/>
          </a:bodyPr>
          <a:lstStyle/>
          <a:p>
            <a:pPr algn="ctr"/>
            <a:r>
              <a:rPr lang="en-US" sz="11000" spc="-150" dirty="0" smtClean="0">
                <a:solidFill>
                  <a:srgbClr val="FFFF00"/>
                </a:solidFill>
                <a:latin typeface="Algerian" panose="04020705040A02060702" pitchFamily="82" charset="0"/>
              </a:rPr>
              <a:t>Hunger</a:t>
            </a:r>
          </a:p>
          <a:p>
            <a:pPr algn="ctr"/>
            <a:r>
              <a:rPr lang="en-US" sz="11000" spc="-150" dirty="0" smtClean="0">
                <a:solidFill>
                  <a:srgbClr val="FFFF00"/>
                </a:solidFill>
                <a:latin typeface="Algerian" panose="04020705040A02060702" pitchFamily="82" charset="0"/>
              </a:rPr>
              <a:t>In</a:t>
            </a:r>
          </a:p>
          <a:p>
            <a:pPr algn="ctr"/>
            <a:r>
              <a:rPr lang="en-US" sz="11000" u="sng" spc="-150" dirty="0" smtClean="0">
                <a:solidFill>
                  <a:srgbClr val="FF0000"/>
                </a:solidFill>
                <a:effectLst>
                  <a:glow rad="190500">
                    <a:srgbClr val="00B0F0">
                      <a:alpha val="67000"/>
                    </a:srgbClr>
                  </a:glow>
                </a:effectLst>
                <a:latin typeface="Algerian" panose="04020705040A02060702" pitchFamily="82" charset="0"/>
              </a:rPr>
              <a:t>N</a:t>
            </a:r>
            <a:r>
              <a:rPr lang="en-US" sz="11000" u="sng" spc="-150" dirty="0" smtClean="0">
                <a:effectLst>
                  <a:glow rad="190500">
                    <a:srgbClr val="00B0F0">
                      <a:alpha val="67000"/>
                    </a:srgbClr>
                  </a:glow>
                </a:effectLst>
                <a:latin typeface="Algerian" panose="04020705040A02060702" pitchFamily="82" charset="0"/>
              </a:rPr>
              <a:t>E</a:t>
            </a:r>
            <a:r>
              <a:rPr lang="en-US" sz="11000" u="sng" spc="-150" dirty="0" smtClean="0">
                <a:solidFill>
                  <a:srgbClr val="FF0000"/>
                </a:solidFill>
                <a:effectLst>
                  <a:glow rad="190500">
                    <a:srgbClr val="00B0F0">
                      <a:alpha val="67000"/>
                    </a:srgbClr>
                  </a:glow>
                </a:effectLst>
                <a:latin typeface="Algerian" panose="04020705040A02060702" pitchFamily="82" charset="0"/>
              </a:rPr>
              <a:t>P</a:t>
            </a:r>
            <a:r>
              <a:rPr lang="en-US" sz="11000" u="sng" spc="-150" dirty="0" smtClean="0">
                <a:effectLst>
                  <a:glow rad="190500">
                    <a:srgbClr val="00B0F0">
                      <a:alpha val="67000"/>
                    </a:srgbClr>
                  </a:glow>
                </a:effectLst>
                <a:latin typeface="Algerian" panose="04020705040A02060702" pitchFamily="82" charset="0"/>
              </a:rPr>
              <a:t>A</a:t>
            </a:r>
            <a:r>
              <a:rPr lang="en-US" sz="11000" u="sng" spc="-150" dirty="0" smtClean="0">
                <a:solidFill>
                  <a:srgbClr val="FF0000"/>
                </a:solidFill>
                <a:effectLst>
                  <a:glow rad="190500">
                    <a:srgbClr val="00B0F0">
                      <a:alpha val="67000"/>
                    </a:srgbClr>
                  </a:glow>
                </a:effectLst>
                <a:latin typeface="Algerian" panose="04020705040A02060702" pitchFamily="82" charset="0"/>
              </a:rPr>
              <a:t>L</a:t>
            </a:r>
            <a:endParaRPr lang="en-IN" sz="11000" spc="-150" dirty="0">
              <a:solidFill>
                <a:srgbClr val="FF0000"/>
              </a:solidFill>
              <a:effectLst>
                <a:glow rad="190500">
                  <a:srgbClr val="00B0F0">
                    <a:alpha val="67000"/>
                  </a:srgbClr>
                </a:glow>
              </a:effectLst>
            </a:endParaRPr>
          </a:p>
        </p:txBody>
      </p:sp>
    </p:spTree>
    <p:extLst>
      <p:ext uri="{BB962C8B-B14F-4D97-AF65-F5344CB8AC3E}">
        <p14:creationId xmlns:p14="http://schemas.microsoft.com/office/powerpoint/2010/main" val="29702173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advTm="10000">
        <p15:prstTrans prst="curtains"/>
      </p:transition>
    </mc:Choice>
    <mc:Fallback xmlns="">
      <p:transition spd="slow" advTm="1000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20000" fill="hold" grpId="0" nodeType="withEffect" p14:presetBounceEnd="40000">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14:bounceEnd="40000">
                                          <p:cBhvr additive="base">
                                            <p:cTn id="7" dur="2000" fill="hold"/>
                                            <p:tgtEl>
                                              <p:spTgt spid="2"/>
                                            </p:tgtEl>
                                            <p:attrNameLst>
                                              <p:attrName>ppt_x</p:attrName>
                                            </p:attrNameLst>
                                          </p:cBhvr>
                                          <p:tavLst>
                                            <p:tav tm="0">
                                              <p:val>
                                                <p:strVal val="0-#ppt_w/2"/>
                                              </p:val>
                                            </p:tav>
                                            <p:tav tm="100000">
                                              <p:val>
                                                <p:strVal val="#ppt_x"/>
                                              </p:val>
                                            </p:tav>
                                          </p:tavLst>
                                        </p:anim>
                                        <p:anim calcmode="lin" valueType="num" p14:bounceEnd="40000">
                                          <p:cBhvr additive="base">
                                            <p:cTn id="8" dur="20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accel="20000" fill="hold" grpId="0" nodeType="withEffect" p14:presetBounceEnd="40000">
                                      <p:stCondLst>
                                        <p:cond delay="500"/>
                                      </p:stCondLst>
                                      <p:childTnLst>
                                        <p:set>
                                          <p:cBhvr>
                                            <p:cTn id="10" dur="1" fill="hold">
                                              <p:stCondLst>
                                                <p:cond delay="0"/>
                                              </p:stCondLst>
                                            </p:cTn>
                                            <p:tgtEl>
                                              <p:spTgt spid="4"/>
                                            </p:tgtEl>
                                            <p:attrNameLst>
                                              <p:attrName>style.visibility</p:attrName>
                                            </p:attrNameLst>
                                          </p:cBhvr>
                                          <p:to>
                                            <p:strVal val="visible"/>
                                          </p:to>
                                        </p:set>
                                        <p:anim calcmode="lin" valueType="num" p14:bounceEnd="40000">
                                          <p:cBhvr additive="base">
                                            <p:cTn id="11" dur="2000" fill="hold"/>
                                            <p:tgtEl>
                                              <p:spTgt spid="4"/>
                                            </p:tgtEl>
                                            <p:attrNameLst>
                                              <p:attrName>ppt_x</p:attrName>
                                            </p:attrNameLst>
                                          </p:cBhvr>
                                          <p:tavLst>
                                            <p:tav tm="0">
                                              <p:val>
                                                <p:strVal val="1+#ppt_w/2"/>
                                              </p:val>
                                            </p:tav>
                                            <p:tav tm="100000">
                                              <p:val>
                                                <p:strVal val="#ppt_x"/>
                                              </p:val>
                                            </p:tav>
                                          </p:tavLst>
                                        </p:anim>
                                        <p:anim calcmode="lin" valueType="num" p14:bounceEnd="40000">
                                          <p:cBhvr additive="base">
                                            <p:cTn id="12" dur="2000" fill="hold"/>
                                            <p:tgtEl>
                                              <p:spTgt spid="4"/>
                                            </p:tgtEl>
                                            <p:attrNameLst>
                                              <p:attrName>ppt_y</p:attrName>
                                            </p:attrNameLst>
                                          </p:cBhvr>
                                          <p:tavLst>
                                            <p:tav tm="0">
                                              <p:val>
                                                <p:strVal val="#ppt_y"/>
                                              </p:val>
                                            </p:tav>
                                            <p:tav tm="100000">
                                              <p:val>
                                                <p:strVal val="#ppt_y"/>
                                              </p:val>
                                            </p:tav>
                                          </p:tavLst>
                                        </p:anim>
                                      </p:childTnLst>
                                    </p:cTn>
                                  </p:par>
                                </p:childTnLst>
                              </p:cTn>
                            </p:par>
                            <p:par>
                              <p:cTn id="13" fill="hold">
                                <p:stCondLst>
                                  <p:cond delay="2500"/>
                                </p:stCondLst>
                                <p:childTnLst>
                                  <p:par>
                                    <p:cTn id="14" presetID="49" presetClass="entr" presetSubtype="0" decel="10000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p:cTn id="16" dur="3000" fill="hold"/>
                                            <p:tgtEl>
                                              <p:spTgt spid="3"/>
                                            </p:tgtEl>
                                            <p:attrNameLst>
                                              <p:attrName>ppt_w</p:attrName>
                                            </p:attrNameLst>
                                          </p:cBhvr>
                                          <p:tavLst>
                                            <p:tav tm="0">
                                              <p:val>
                                                <p:fltVal val="0"/>
                                              </p:val>
                                            </p:tav>
                                            <p:tav tm="100000">
                                              <p:val>
                                                <p:strVal val="#ppt_w"/>
                                              </p:val>
                                            </p:tav>
                                          </p:tavLst>
                                        </p:anim>
                                        <p:anim calcmode="lin" valueType="num">
                                          <p:cBhvr>
                                            <p:cTn id="17" dur="3000" fill="hold"/>
                                            <p:tgtEl>
                                              <p:spTgt spid="3"/>
                                            </p:tgtEl>
                                            <p:attrNameLst>
                                              <p:attrName>ppt_h</p:attrName>
                                            </p:attrNameLst>
                                          </p:cBhvr>
                                          <p:tavLst>
                                            <p:tav tm="0">
                                              <p:val>
                                                <p:fltVal val="0"/>
                                              </p:val>
                                            </p:tav>
                                            <p:tav tm="100000">
                                              <p:val>
                                                <p:strVal val="#ppt_h"/>
                                              </p:val>
                                            </p:tav>
                                          </p:tavLst>
                                        </p:anim>
                                        <p:anim calcmode="lin" valueType="num">
                                          <p:cBhvr>
                                            <p:cTn id="18" dur="3000" fill="hold"/>
                                            <p:tgtEl>
                                              <p:spTgt spid="3"/>
                                            </p:tgtEl>
                                            <p:attrNameLst>
                                              <p:attrName>style.rotation</p:attrName>
                                            </p:attrNameLst>
                                          </p:cBhvr>
                                          <p:tavLst>
                                            <p:tav tm="0">
                                              <p:val>
                                                <p:fltVal val="360"/>
                                              </p:val>
                                            </p:tav>
                                            <p:tav tm="100000">
                                              <p:val>
                                                <p:fltVal val="0"/>
                                              </p:val>
                                            </p:tav>
                                          </p:tavLst>
                                        </p:anim>
                                        <p:animEffect transition="in" filter="fade">
                                          <p:cBhvr>
                                            <p:cTn id="19" dur="3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2000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000" fill="hold"/>
                                            <p:tgtEl>
                                              <p:spTgt spid="2"/>
                                            </p:tgtEl>
                                            <p:attrNameLst>
                                              <p:attrName>ppt_x</p:attrName>
                                            </p:attrNameLst>
                                          </p:cBhvr>
                                          <p:tavLst>
                                            <p:tav tm="0">
                                              <p:val>
                                                <p:strVal val="0-#ppt_w/2"/>
                                              </p:val>
                                            </p:tav>
                                            <p:tav tm="100000">
                                              <p:val>
                                                <p:strVal val="#ppt_x"/>
                                              </p:val>
                                            </p:tav>
                                          </p:tavLst>
                                        </p:anim>
                                        <p:anim calcmode="lin" valueType="num">
                                          <p:cBhvr additive="base">
                                            <p:cTn id="8" dur="20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accel="20000" fill="hold" grpId="0" nodeType="withEffect">
                                      <p:stCondLst>
                                        <p:cond delay="5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2000" fill="hold"/>
                                            <p:tgtEl>
                                              <p:spTgt spid="4"/>
                                            </p:tgtEl>
                                            <p:attrNameLst>
                                              <p:attrName>ppt_x</p:attrName>
                                            </p:attrNameLst>
                                          </p:cBhvr>
                                          <p:tavLst>
                                            <p:tav tm="0">
                                              <p:val>
                                                <p:strVal val="1+#ppt_w/2"/>
                                              </p:val>
                                            </p:tav>
                                            <p:tav tm="100000">
                                              <p:val>
                                                <p:strVal val="#ppt_x"/>
                                              </p:val>
                                            </p:tav>
                                          </p:tavLst>
                                        </p:anim>
                                        <p:anim calcmode="lin" valueType="num">
                                          <p:cBhvr additive="base">
                                            <p:cTn id="12" dur="2000" fill="hold"/>
                                            <p:tgtEl>
                                              <p:spTgt spid="4"/>
                                            </p:tgtEl>
                                            <p:attrNameLst>
                                              <p:attrName>ppt_y</p:attrName>
                                            </p:attrNameLst>
                                          </p:cBhvr>
                                          <p:tavLst>
                                            <p:tav tm="0">
                                              <p:val>
                                                <p:strVal val="#ppt_y"/>
                                              </p:val>
                                            </p:tav>
                                            <p:tav tm="100000">
                                              <p:val>
                                                <p:strVal val="#ppt_y"/>
                                              </p:val>
                                            </p:tav>
                                          </p:tavLst>
                                        </p:anim>
                                      </p:childTnLst>
                                    </p:cTn>
                                  </p:par>
                                </p:childTnLst>
                              </p:cTn>
                            </p:par>
                            <p:par>
                              <p:cTn id="13" fill="hold">
                                <p:stCondLst>
                                  <p:cond delay="2500"/>
                                </p:stCondLst>
                                <p:childTnLst>
                                  <p:par>
                                    <p:cTn id="14" presetID="49" presetClass="entr" presetSubtype="0" decel="10000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p:cTn id="16" dur="3000" fill="hold"/>
                                            <p:tgtEl>
                                              <p:spTgt spid="3"/>
                                            </p:tgtEl>
                                            <p:attrNameLst>
                                              <p:attrName>ppt_w</p:attrName>
                                            </p:attrNameLst>
                                          </p:cBhvr>
                                          <p:tavLst>
                                            <p:tav tm="0">
                                              <p:val>
                                                <p:fltVal val="0"/>
                                              </p:val>
                                            </p:tav>
                                            <p:tav tm="100000">
                                              <p:val>
                                                <p:strVal val="#ppt_w"/>
                                              </p:val>
                                            </p:tav>
                                          </p:tavLst>
                                        </p:anim>
                                        <p:anim calcmode="lin" valueType="num">
                                          <p:cBhvr>
                                            <p:cTn id="17" dur="3000" fill="hold"/>
                                            <p:tgtEl>
                                              <p:spTgt spid="3"/>
                                            </p:tgtEl>
                                            <p:attrNameLst>
                                              <p:attrName>ppt_h</p:attrName>
                                            </p:attrNameLst>
                                          </p:cBhvr>
                                          <p:tavLst>
                                            <p:tav tm="0">
                                              <p:val>
                                                <p:fltVal val="0"/>
                                              </p:val>
                                            </p:tav>
                                            <p:tav tm="100000">
                                              <p:val>
                                                <p:strVal val="#ppt_h"/>
                                              </p:val>
                                            </p:tav>
                                          </p:tavLst>
                                        </p:anim>
                                        <p:anim calcmode="lin" valueType="num">
                                          <p:cBhvr>
                                            <p:cTn id="18" dur="3000" fill="hold"/>
                                            <p:tgtEl>
                                              <p:spTgt spid="3"/>
                                            </p:tgtEl>
                                            <p:attrNameLst>
                                              <p:attrName>style.rotation</p:attrName>
                                            </p:attrNameLst>
                                          </p:cBhvr>
                                          <p:tavLst>
                                            <p:tav tm="0">
                                              <p:val>
                                                <p:fltVal val="360"/>
                                              </p:val>
                                            </p:tav>
                                            <p:tav tm="100000">
                                              <p:val>
                                                <p:fltVal val="0"/>
                                              </p:val>
                                            </p:tav>
                                          </p:tavLst>
                                        </p:anim>
                                        <p:animEffect transition="in" filter="fade">
                                          <p:cBhvr>
                                            <p:cTn id="19" dur="3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944" y="51690"/>
            <a:ext cx="9896288" cy="1400530"/>
          </a:xfrm>
        </p:spPr>
        <p:txBody>
          <a:bodyPr>
            <a:noAutofit/>
          </a:bodyPr>
          <a:lstStyle/>
          <a:p>
            <a:r>
              <a:rPr lang="en-US" sz="9100" u="sng" dirty="0" smtClean="0">
                <a:solidFill>
                  <a:srgbClr val="3AF84C"/>
                </a:solidFill>
                <a:latin typeface="Algerian" panose="04020705040A02060702" pitchFamily="82" charset="0"/>
              </a:rPr>
              <a:t>What is hunger?</a:t>
            </a:r>
            <a:endParaRPr lang="en-US" sz="9100" u="sng" dirty="0">
              <a:solidFill>
                <a:srgbClr val="3AF84C"/>
              </a:solidFill>
              <a:latin typeface="Algerian" panose="04020705040A02060702" pitchFamily="82" charset="0"/>
            </a:endParaRPr>
          </a:p>
        </p:txBody>
      </p:sp>
      <p:sp>
        <p:nvSpPr>
          <p:cNvPr id="3" name="Content Placeholder 2"/>
          <p:cNvSpPr>
            <a:spLocks noGrp="1"/>
          </p:cNvSpPr>
          <p:nvPr>
            <p:ph idx="1"/>
          </p:nvPr>
        </p:nvSpPr>
        <p:spPr>
          <a:xfrm>
            <a:off x="147628" y="1691919"/>
            <a:ext cx="5059137" cy="2286523"/>
          </a:xfrm>
        </p:spPr>
        <p:txBody>
          <a:bodyPr>
            <a:noAutofit/>
          </a:bodyPr>
          <a:lstStyle/>
          <a:p>
            <a:pPr marL="0" indent="0">
              <a:buNone/>
            </a:pPr>
            <a:r>
              <a:rPr lang="en-US" sz="2400" dirty="0" smtClean="0">
                <a:solidFill>
                  <a:srgbClr val="FAFA6C"/>
                </a:solidFill>
                <a:latin typeface="Times New Roman" panose="02020603050405020304" pitchFamily="18" charset="0"/>
                <a:cs typeface="Times New Roman" panose="02020603050405020304" pitchFamily="18" charset="0"/>
              </a:rPr>
              <a:t>Hunger is a feeling of discomfort and weakness caused by lack of food, coupled with desire to eat. It </a:t>
            </a:r>
            <a:r>
              <a:rPr lang="en-US" sz="2400" dirty="0">
                <a:solidFill>
                  <a:srgbClr val="FAFA6C"/>
                </a:solidFill>
                <a:latin typeface="Times New Roman" panose="02020603050405020304" pitchFamily="18" charset="0"/>
                <a:cs typeface="Times New Roman" panose="02020603050405020304" pitchFamily="18" charset="0"/>
              </a:rPr>
              <a:t>can manifest itself in different ways – undernourishment, malnutrition and wasting</a:t>
            </a:r>
            <a:r>
              <a:rPr lang="en-US" sz="2400" dirty="0" smtClean="0">
                <a:solidFill>
                  <a:srgbClr val="FAFA6C"/>
                </a:solidFill>
                <a:latin typeface="Times New Roman" panose="02020603050405020304" pitchFamily="18" charset="0"/>
                <a:cs typeface="Times New Roman" panose="02020603050405020304" pitchFamily="18" charset="0"/>
              </a:rPr>
              <a:t>.</a:t>
            </a:r>
            <a:endParaRPr lang="en-US" sz="2400" dirty="0">
              <a:solidFill>
                <a:srgbClr val="FAFA6C"/>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7391145" y="4497378"/>
            <a:ext cx="3514295" cy="1938992"/>
          </a:xfrm>
          <a:prstGeom prst="rect">
            <a:avLst/>
          </a:prstGeom>
          <a:noFill/>
        </p:spPr>
        <p:txBody>
          <a:bodyPr wrap="square" rtlCol="0">
            <a:spAutoFit/>
          </a:bodyPr>
          <a:lstStyle/>
          <a:p>
            <a:r>
              <a:rPr lang="en-US" sz="2400" dirty="0">
                <a:solidFill>
                  <a:srgbClr val="00B0F0"/>
                </a:solidFill>
                <a:latin typeface="Times New Roman" panose="02020603050405020304" pitchFamily="18" charset="0"/>
                <a:cs typeface="Times New Roman" panose="02020603050405020304" pitchFamily="18" charset="0"/>
              </a:rPr>
              <a:t>Undernourishment occurs when people do not take in enough calories to meet minimum physiological needs</a:t>
            </a:r>
            <a:r>
              <a:rPr lang="en-US" sz="2400" dirty="0" smtClean="0">
                <a:solidFill>
                  <a:srgbClr val="00B0F0"/>
                </a:solidFill>
                <a:latin typeface="Times New Roman" panose="02020603050405020304" pitchFamily="18" charset="0"/>
                <a:cs typeface="Times New Roman" panose="02020603050405020304" pitchFamily="18" charset="0"/>
              </a:rPr>
              <a:t>.</a:t>
            </a:r>
            <a:endParaRPr lang="en-US" sz="2400" dirty="0">
              <a:solidFill>
                <a:srgbClr val="00B0F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6721643" y="1691919"/>
            <a:ext cx="4853300" cy="2585323"/>
          </a:xfrm>
          <a:prstGeom prst="rect">
            <a:avLst/>
          </a:prstGeom>
          <a:noFill/>
        </p:spPr>
        <p:txBody>
          <a:bodyPr wrap="square" rtlCol="0">
            <a:spAutoFit/>
          </a:bodyPr>
          <a:lstStyle/>
          <a:p>
            <a:r>
              <a:rPr lang="en-US" sz="2400" dirty="0">
                <a:solidFill>
                  <a:srgbClr val="FAFA6C"/>
                </a:solidFill>
                <a:latin typeface="Times New Roman" panose="02020603050405020304" pitchFamily="18" charset="0"/>
                <a:cs typeface="Times New Roman" panose="02020603050405020304" pitchFamily="18" charset="0"/>
              </a:rPr>
              <a:t>Malnutrition is when people have an inadequate intake of protein, energy and micronutrients. Starved of the right nutrition, they can die from common infections such as measles or diarrhea.</a:t>
            </a:r>
          </a:p>
          <a:p>
            <a:endParaRPr lang="en-IN" dirty="0"/>
          </a:p>
        </p:txBody>
      </p:sp>
      <p:sp>
        <p:nvSpPr>
          <p:cNvPr id="7" name="Rectangle 6"/>
          <p:cNvSpPr/>
          <p:nvPr/>
        </p:nvSpPr>
        <p:spPr>
          <a:xfrm>
            <a:off x="877969" y="4694900"/>
            <a:ext cx="3366583" cy="1938992"/>
          </a:xfrm>
          <a:prstGeom prst="rect">
            <a:avLst/>
          </a:prstGeom>
        </p:spPr>
        <p:txBody>
          <a:bodyPr wrap="square">
            <a:spAutoFit/>
          </a:bodyPr>
          <a:lstStyle/>
          <a:p>
            <a:r>
              <a:rPr lang="en-US" sz="2400" dirty="0">
                <a:solidFill>
                  <a:srgbClr val="00B0F0"/>
                </a:solidFill>
                <a:latin typeface="Times New Roman" panose="02020603050405020304" pitchFamily="18" charset="0"/>
                <a:cs typeface="Times New Roman" panose="02020603050405020304" pitchFamily="18" charset="0"/>
              </a:rPr>
              <a:t>Wasting, usually the result of starvation or disease, is an indicator of acute malnutrition with substantial weight loss.</a:t>
            </a:r>
            <a:endParaRPr lang="en-US" sz="2400" dirty="0">
              <a:solidFill>
                <a:srgbClr val="00B0F0"/>
              </a:solidFill>
              <a:latin typeface="Times New Roman" panose="02020603050405020304" pitchFamily="18" charset="0"/>
              <a:cs typeface="Times New Roman" panose="02020603050405020304" pitchFamily="18" charset="0"/>
            </a:endParaRPr>
          </a:p>
        </p:txBody>
      </p:sp>
      <p:pic>
        <p:nvPicPr>
          <p:cNvPr id="4" name="Picture 2" descr="Image result for what is hung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190" y="4387310"/>
            <a:ext cx="3722362" cy="233403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s://assets.weforum.org/article/image/large_XfNCRzE7Ze_8XU3OAYC8KXVNOHqL-j0PaYje0GQqz6I.jpg"/>
          <p:cNvPicPr>
            <a:picLocks noChangeAspect="1" noChangeArrowheads="1"/>
          </p:cNvPicPr>
          <p:nvPr/>
        </p:nvPicPr>
        <p:blipFill rotWithShape="1">
          <a:blip r:embed="rId3">
            <a:extLst>
              <a:ext uri="{28A0092B-C50C-407E-A947-70E740481C1C}">
                <a14:useLocalDpi xmlns:a14="http://schemas.microsoft.com/office/drawing/2010/main" val="0"/>
              </a:ext>
            </a:extLst>
          </a:blip>
          <a:srcRect r="37296"/>
          <a:stretch/>
        </p:blipFill>
        <p:spPr bwMode="auto">
          <a:xfrm>
            <a:off x="6721643" y="1657549"/>
            <a:ext cx="4612781" cy="2729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2834277"/>
      </p:ext>
    </p:extLst>
  </p:cSld>
  <p:clrMapOvr>
    <a:masterClrMapping/>
  </p:clrMapOvr>
  <mc:AlternateContent xmlns:mc="http://schemas.openxmlformats.org/markup-compatibility/2006">
    <mc:Choice xmlns:p14="http://schemas.microsoft.com/office/powerpoint/2010/main" Requires="p14">
      <p:transition spd="slow" p14:dur="4400" advTm="30000">
        <p14:honeycomb/>
      </p:transition>
    </mc:Choice>
    <mc:Fallback>
      <p:transition spd="slow" advTm="3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2000"/>
                                        <p:tgtEl>
                                          <p:spTgt spid="2"/>
                                        </p:tgtEl>
                                      </p:cBhvr>
                                    </p:animEffect>
                                  </p:childTnLst>
                                </p:cTn>
                              </p:par>
                            </p:childTnLst>
                          </p:cTn>
                        </p:par>
                        <p:par>
                          <p:cTn id="8" fill="hold">
                            <p:stCondLst>
                              <p:cond delay="2000"/>
                            </p:stCondLst>
                            <p:childTnLst>
                              <p:par>
                                <p:cTn id="9" presetID="21" presetClass="entr" presetSubtype="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heel(1)">
                                      <p:cBhvr>
                                        <p:cTn id="11" dur="2000"/>
                                        <p:tgtEl>
                                          <p:spTgt spid="3">
                                            <p:txEl>
                                              <p:pRg st="0" end="0"/>
                                            </p:txEl>
                                          </p:spTgt>
                                        </p:tgtEl>
                                      </p:cBhvr>
                                    </p:animEffect>
                                  </p:childTnLst>
                                </p:cTn>
                              </p:par>
                              <p:par>
                                <p:cTn id="12" presetID="53" presetClass="entr" presetSubtype="16" fill="hold" nodeType="withEffect">
                                  <p:stCondLst>
                                    <p:cond delay="2000"/>
                                  </p:stCondLst>
                                  <p:childTnLst>
                                    <p:set>
                                      <p:cBhvr>
                                        <p:cTn id="13" dur="1" fill="hold">
                                          <p:stCondLst>
                                            <p:cond delay="0"/>
                                          </p:stCondLst>
                                        </p:cTn>
                                        <p:tgtEl>
                                          <p:spTgt spid="1026"/>
                                        </p:tgtEl>
                                        <p:attrNameLst>
                                          <p:attrName>style.visibility</p:attrName>
                                        </p:attrNameLst>
                                      </p:cBhvr>
                                      <p:to>
                                        <p:strVal val="visible"/>
                                      </p:to>
                                    </p:set>
                                    <p:anim calcmode="lin" valueType="num">
                                      <p:cBhvr>
                                        <p:cTn id="14" dur="2000" fill="hold"/>
                                        <p:tgtEl>
                                          <p:spTgt spid="1026"/>
                                        </p:tgtEl>
                                        <p:attrNameLst>
                                          <p:attrName>ppt_w</p:attrName>
                                        </p:attrNameLst>
                                      </p:cBhvr>
                                      <p:tavLst>
                                        <p:tav tm="0">
                                          <p:val>
                                            <p:fltVal val="0"/>
                                          </p:val>
                                        </p:tav>
                                        <p:tav tm="100000">
                                          <p:val>
                                            <p:strVal val="#ppt_w"/>
                                          </p:val>
                                        </p:tav>
                                      </p:tavLst>
                                    </p:anim>
                                    <p:anim calcmode="lin" valueType="num">
                                      <p:cBhvr>
                                        <p:cTn id="15" dur="2000" fill="hold"/>
                                        <p:tgtEl>
                                          <p:spTgt spid="1026"/>
                                        </p:tgtEl>
                                        <p:attrNameLst>
                                          <p:attrName>ppt_h</p:attrName>
                                        </p:attrNameLst>
                                      </p:cBhvr>
                                      <p:tavLst>
                                        <p:tav tm="0">
                                          <p:val>
                                            <p:fltVal val="0"/>
                                          </p:val>
                                        </p:tav>
                                        <p:tav tm="100000">
                                          <p:val>
                                            <p:strVal val="#ppt_h"/>
                                          </p:val>
                                        </p:tav>
                                      </p:tavLst>
                                    </p:anim>
                                    <p:animEffect transition="in" filter="fade">
                                      <p:cBhvr>
                                        <p:cTn id="16" dur="2000"/>
                                        <p:tgtEl>
                                          <p:spTgt spid="1026"/>
                                        </p:tgtEl>
                                      </p:cBhvr>
                                    </p:animEffect>
                                  </p:childTnLst>
                                </p:cTn>
                              </p:par>
                              <p:par>
                                <p:cTn id="17" presetID="53" presetClass="entr" presetSubtype="16" fill="hold" nodeType="withEffect">
                                  <p:stCondLst>
                                    <p:cond delay="2000"/>
                                  </p:stCondLst>
                                  <p:childTnLst>
                                    <p:set>
                                      <p:cBhvr>
                                        <p:cTn id="18" dur="1" fill="hold">
                                          <p:stCondLst>
                                            <p:cond delay="0"/>
                                          </p:stCondLst>
                                        </p:cTn>
                                        <p:tgtEl>
                                          <p:spTgt spid="4"/>
                                        </p:tgtEl>
                                        <p:attrNameLst>
                                          <p:attrName>style.visibility</p:attrName>
                                        </p:attrNameLst>
                                      </p:cBhvr>
                                      <p:to>
                                        <p:strVal val="visible"/>
                                      </p:to>
                                    </p:set>
                                    <p:anim calcmode="lin" valueType="num">
                                      <p:cBhvr>
                                        <p:cTn id="19" dur="2000" fill="hold"/>
                                        <p:tgtEl>
                                          <p:spTgt spid="4"/>
                                        </p:tgtEl>
                                        <p:attrNameLst>
                                          <p:attrName>ppt_w</p:attrName>
                                        </p:attrNameLst>
                                      </p:cBhvr>
                                      <p:tavLst>
                                        <p:tav tm="0">
                                          <p:val>
                                            <p:fltVal val="0"/>
                                          </p:val>
                                        </p:tav>
                                        <p:tav tm="100000">
                                          <p:val>
                                            <p:strVal val="#ppt_w"/>
                                          </p:val>
                                        </p:tav>
                                      </p:tavLst>
                                    </p:anim>
                                    <p:anim calcmode="lin" valueType="num">
                                      <p:cBhvr>
                                        <p:cTn id="20" dur="2000" fill="hold"/>
                                        <p:tgtEl>
                                          <p:spTgt spid="4"/>
                                        </p:tgtEl>
                                        <p:attrNameLst>
                                          <p:attrName>ppt_h</p:attrName>
                                        </p:attrNameLst>
                                      </p:cBhvr>
                                      <p:tavLst>
                                        <p:tav tm="0">
                                          <p:val>
                                            <p:fltVal val="0"/>
                                          </p:val>
                                        </p:tav>
                                        <p:tav tm="100000">
                                          <p:val>
                                            <p:strVal val="#ppt_h"/>
                                          </p:val>
                                        </p:tav>
                                      </p:tavLst>
                                    </p:anim>
                                    <p:animEffect transition="in" filter="fade">
                                      <p:cBhvr>
                                        <p:cTn id="21" dur="2000"/>
                                        <p:tgtEl>
                                          <p:spTgt spid="4"/>
                                        </p:tgtEl>
                                      </p:cBhvr>
                                    </p:animEffect>
                                  </p:childTnLst>
                                </p:cTn>
                              </p:par>
                            </p:childTnLst>
                          </p:cTn>
                        </p:par>
                        <p:par>
                          <p:cTn id="22" fill="hold">
                            <p:stCondLst>
                              <p:cond delay="6000"/>
                            </p:stCondLst>
                            <p:childTnLst>
                              <p:par>
                                <p:cTn id="23" presetID="1" presetClass="entr" presetSubtype="0"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par>
                          <p:cTn id="25" fill="hold">
                            <p:stCondLst>
                              <p:cond delay="6000"/>
                            </p:stCondLst>
                            <p:childTnLst>
                              <p:par>
                                <p:cTn id="26" presetID="1" presetClass="entr" presetSubtype="0"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childTnLst>
                                </p:cTn>
                              </p:par>
                              <p:par>
                                <p:cTn id="28" presetID="21" presetClass="entr" presetSubtype="1" fill="hold" grpId="0" nodeType="withEffect">
                                  <p:stCondLst>
                                    <p:cond delay="4500"/>
                                  </p:stCondLst>
                                  <p:childTnLst>
                                    <p:set>
                                      <p:cBhvr>
                                        <p:cTn id="29" dur="1" fill="hold">
                                          <p:stCondLst>
                                            <p:cond delay="0"/>
                                          </p:stCondLst>
                                        </p:cTn>
                                        <p:tgtEl>
                                          <p:spTgt spid="5"/>
                                        </p:tgtEl>
                                        <p:attrNameLst>
                                          <p:attrName>style.visibility</p:attrName>
                                        </p:attrNameLst>
                                      </p:cBhvr>
                                      <p:to>
                                        <p:strVal val="visible"/>
                                      </p:to>
                                    </p:set>
                                    <p:animEffect transition="in" filter="wheel(1)">
                                      <p:cBhvr>
                                        <p:cTn id="30" dur="2000"/>
                                        <p:tgtEl>
                                          <p:spTgt spid="5"/>
                                        </p:tgtEl>
                                      </p:cBhvr>
                                    </p:animEffect>
                                  </p:childTnLst>
                                </p:cTn>
                              </p:par>
                            </p:childTnLst>
                          </p:cTn>
                        </p:par>
                        <p:par>
                          <p:cTn id="31" fill="hold">
                            <p:stCondLst>
                              <p:cond delay="12500"/>
                            </p:stCondLst>
                            <p:childTnLst>
                              <p:par>
                                <p:cTn id="32" presetID="35" presetClass="path" presetSubtype="0" accel="50000" decel="50000" fill="hold" nodeType="afterEffect">
                                  <p:stCondLst>
                                    <p:cond delay="4000"/>
                                  </p:stCondLst>
                                  <p:childTnLst>
                                    <p:animMotion origin="layout" path="M -4.79167E-6 -7.40741E-7 L -0.53385 -0.00324 " pathEditMode="relative" rAng="0" ptsTypes="AA">
                                      <p:cBhvr>
                                        <p:cTn id="33" dur="2000" fill="hold"/>
                                        <p:tgtEl>
                                          <p:spTgt spid="1026"/>
                                        </p:tgtEl>
                                        <p:attrNameLst>
                                          <p:attrName>ppt_x</p:attrName>
                                          <p:attrName>ppt_y</p:attrName>
                                        </p:attrNameLst>
                                      </p:cBhvr>
                                      <p:rCtr x="-26693" y="-162"/>
                                    </p:animMotion>
                                  </p:childTnLst>
                                </p:cTn>
                              </p:par>
                            </p:childTnLst>
                          </p:cTn>
                        </p:par>
                        <p:par>
                          <p:cTn id="34" fill="hold">
                            <p:stCondLst>
                              <p:cond delay="18500"/>
                            </p:stCondLst>
                            <p:childTnLst>
                              <p:par>
                                <p:cTn id="35" presetID="63" presetClass="path" presetSubtype="0" accel="50000" decel="50000" fill="hold" nodeType="afterEffect">
                                  <p:stCondLst>
                                    <p:cond delay="4000"/>
                                  </p:stCondLst>
                                  <p:childTnLst>
                                    <p:animMotion origin="layout" path="M -2.70833E-6 -3.7037E-6 L 0.5638 0.00417 " pathEditMode="relative" rAng="0" ptsTypes="AA">
                                      <p:cBhvr>
                                        <p:cTn id="36" dur="2000" fill="hold"/>
                                        <p:tgtEl>
                                          <p:spTgt spid="4"/>
                                        </p:tgtEl>
                                        <p:attrNameLst>
                                          <p:attrName>ppt_x</p:attrName>
                                          <p:attrName>ppt_y</p:attrName>
                                        </p:attrNameLst>
                                      </p:cBhvr>
                                      <p:rCtr x="28190" y="20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5308" y="59564"/>
            <a:ext cx="11018949" cy="1325563"/>
          </a:xfrm>
        </p:spPr>
        <p:txBody>
          <a:bodyPr>
            <a:noAutofit/>
          </a:bodyPr>
          <a:lstStyle/>
          <a:p>
            <a:r>
              <a:rPr lang="en-US" sz="6600" u="sng" dirty="0" smtClean="0">
                <a:solidFill>
                  <a:srgbClr val="6DF6F9"/>
                </a:solidFill>
                <a:effectLst>
                  <a:glow rad="228600">
                    <a:schemeClr val="accent4">
                      <a:satMod val="175000"/>
                      <a:alpha val="40000"/>
                    </a:schemeClr>
                  </a:glow>
                </a:effectLst>
                <a:latin typeface="Arial Rounded MT Bold" panose="020F0704030504030204" pitchFamily="34" charset="0"/>
              </a:rPr>
              <a:t>Causes of hunger in India- </a:t>
            </a:r>
            <a:endParaRPr lang="en-US" sz="6600" u="sng" dirty="0">
              <a:solidFill>
                <a:srgbClr val="6DF6F9"/>
              </a:solidFill>
              <a:effectLst>
                <a:glow rad="228600">
                  <a:schemeClr val="accent4">
                    <a:satMod val="175000"/>
                    <a:alpha val="40000"/>
                  </a:schemeClr>
                </a:glow>
              </a:effectLst>
              <a:latin typeface="Arial Rounded MT Bold" panose="020F0704030504030204" pitchFamily="34" charset="0"/>
            </a:endParaRPr>
          </a:p>
        </p:txBody>
      </p:sp>
      <p:sp>
        <p:nvSpPr>
          <p:cNvPr id="3" name="Content Placeholder 2"/>
          <p:cNvSpPr>
            <a:spLocks noGrp="1"/>
          </p:cNvSpPr>
          <p:nvPr>
            <p:ph idx="1"/>
          </p:nvPr>
        </p:nvSpPr>
        <p:spPr>
          <a:xfrm>
            <a:off x="3945227" y="1277267"/>
            <a:ext cx="8122277" cy="5686024"/>
          </a:xfrm>
        </p:spPr>
        <p:txBody>
          <a:bodyPr>
            <a:noAutofit/>
          </a:bodyPr>
          <a:lstStyle/>
          <a:p>
            <a:r>
              <a:rPr lang="en-US" sz="2400" b="1" dirty="0" smtClean="0">
                <a:solidFill>
                  <a:srgbClr val="3AF84C"/>
                </a:solidFill>
                <a:latin typeface="Calibri" panose="020F0502020204030204" pitchFamily="34" charset="0"/>
                <a:cs typeface="Calibri" panose="020F0502020204030204" pitchFamily="34" charset="0"/>
              </a:rPr>
              <a:t>POVERTY-</a:t>
            </a:r>
            <a:r>
              <a:rPr lang="en-US" sz="2400" dirty="0" smtClean="0">
                <a:solidFill>
                  <a:srgbClr val="FFC000"/>
                </a:solidFill>
                <a:latin typeface="Calibri" panose="020F0502020204030204" pitchFamily="34" charset="0"/>
                <a:cs typeface="Calibri" panose="020F0502020204030204" pitchFamily="34" charset="0"/>
              </a:rPr>
              <a:t> </a:t>
            </a:r>
            <a:r>
              <a:rPr lang="en-US" sz="2400" dirty="0">
                <a:solidFill>
                  <a:srgbClr val="FFC000"/>
                </a:solidFill>
                <a:latin typeface="Calibri" panose="020F0502020204030204" pitchFamily="34" charset="0"/>
                <a:cs typeface="Calibri" panose="020F0502020204030204" pitchFamily="34" charset="0"/>
              </a:rPr>
              <a:t>I</a:t>
            </a:r>
            <a:r>
              <a:rPr lang="en-US" sz="2400" dirty="0" smtClean="0">
                <a:solidFill>
                  <a:srgbClr val="FFC000"/>
                </a:solidFill>
                <a:latin typeface="Calibri" panose="020F0502020204030204" pitchFamily="34" charset="0"/>
                <a:cs typeface="Calibri" panose="020F0502020204030204" pitchFamily="34" charset="0"/>
              </a:rPr>
              <a:t>t </a:t>
            </a:r>
            <a:r>
              <a:rPr lang="en-US" sz="2400" dirty="0">
                <a:solidFill>
                  <a:srgbClr val="FFC000"/>
                </a:solidFill>
                <a:latin typeface="Calibri" panose="020F0502020204030204" pitchFamily="34" charset="0"/>
                <a:cs typeface="Calibri" panose="020F0502020204030204" pitchFamily="34" charset="0"/>
              </a:rPr>
              <a:t>seriously affects the availability of adequate amounts of </a:t>
            </a:r>
            <a:r>
              <a:rPr lang="en-US" sz="2400" dirty="0" smtClean="0">
                <a:solidFill>
                  <a:srgbClr val="FFC000"/>
                </a:solidFill>
                <a:latin typeface="Calibri" panose="020F0502020204030204" pitchFamily="34" charset="0"/>
                <a:cs typeface="Calibri" panose="020F0502020204030204" pitchFamily="34" charset="0"/>
              </a:rPr>
              <a:t>nutritious food.</a:t>
            </a:r>
          </a:p>
          <a:p>
            <a:r>
              <a:rPr lang="en-US" sz="2400" dirty="0">
                <a:solidFill>
                  <a:srgbClr val="FFC000"/>
                </a:solidFill>
                <a:latin typeface="Calibri" panose="020F0502020204030204" pitchFamily="34" charset="0"/>
                <a:cs typeface="Calibri" panose="020F0502020204030204" pitchFamily="34" charset="0"/>
              </a:rPr>
              <a:t> </a:t>
            </a:r>
            <a:r>
              <a:rPr lang="en-US" sz="2400" b="1" dirty="0" smtClean="0">
                <a:solidFill>
                  <a:srgbClr val="3AF84C"/>
                </a:solidFill>
                <a:latin typeface="Calibri" panose="020F0502020204030204" pitchFamily="34" charset="0"/>
                <a:cs typeface="Calibri" panose="020F0502020204030204" pitchFamily="34" charset="0"/>
              </a:rPr>
              <a:t>LACK </a:t>
            </a:r>
            <a:r>
              <a:rPr lang="en-US" sz="2400" b="1" dirty="0">
                <a:solidFill>
                  <a:srgbClr val="3AF84C"/>
                </a:solidFill>
                <a:latin typeface="Calibri" panose="020F0502020204030204" pitchFamily="34" charset="0"/>
                <a:cs typeface="Calibri" panose="020F0502020204030204" pitchFamily="34" charset="0"/>
              </a:rPr>
              <a:t>OF ACCESS TO </a:t>
            </a:r>
            <a:r>
              <a:rPr lang="en-US" sz="2400" b="1" dirty="0" smtClean="0">
                <a:solidFill>
                  <a:srgbClr val="3AF84C"/>
                </a:solidFill>
                <a:latin typeface="Calibri" panose="020F0502020204030204" pitchFamily="34" charset="0"/>
                <a:cs typeface="Calibri" panose="020F0502020204030204" pitchFamily="34" charset="0"/>
              </a:rPr>
              <a:t>FOOD-</a:t>
            </a:r>
            <a:r>
              <a:rPr lang="en-US" sz="2400" b="1" dirty="0" smtClean="0">
                <a:solidFill>
                  <a:srgbClr val="FFC000"/>
                </a:solidFill>
                <a:latin typeface="Calibri" panose="020F0502020204030204" pitchFamily="34" charset="0"/>
                <a:cs typeface="Calibri" panose="020F0502020204030204" pitchFamily="34" charset="0"/>
              </a:rPr>
              <a:t> </a:t>
            </a:r>
            <a:r>
              <a:rPr lang="en-US" sz="2400" dirty="0" smtClean="0">
                <a:solidFill>
                  <a:srgbClr val="FFC000"/>
                </a:solidFill>
                <a:latin typeface="Calibri" panose="020F0502020204030204" pitchFamily="34" charset="0"/>
                <a:cs typeface="Calibri" panose="020F0502020204030204" pitchFamily="34" charset="0"/>
              </a:rPr>
              <a:t>Most major crisis </a:t>
            </a:r>
            <a:r>
              <a:rPr lang="en-US" sz="2400" dirty="0">
                <a:solidFill>
                  <a:srgbClr val="FFC000"/>
                </a:solidFill>
                <a:latin typeface="Calibri" panose="020F0502020204030204" pitchFamily="34" charset="0"/>
                <a:cs typeface="Calibri" panose="020F0502020204030204" pitchFamily="34" charset="0"/>
              </a:rPr>
              <a:t>do not occur because of a lack of food, </a:t>
            </a:r>
            <a:r>
              <a:rPr lang="en-US" sz="2400" dirty="0" smtClean="0">
                <a:solidFill>
                  <a:srgbClr val="FFC000"/>
                </a:solidFill>
                <a:latin typeface="Calibri" panose="020F0502020204030204" pitchFamily="34" charset="0"/>
                <a:cs typeface="Calibri" panose="020F0502020204030204" pitchFamily="34" charset="0"/>
              </a:rPr>
              <a:t>but </a:t>
            </a:r>
            <a:r>
              <a:rPr lang="en-US" sz="2400" dirty="0">
                <a:solidFill>
                  <a:srgbClr val="FFC000"/>
                </a:solidFill>
                <a:latin typeface="Calibri" panose="020F0502020204030204" pitchFamily="34" charset="0"/>
                <a:cs typeface="Calibri" panose="020F0502020204030204" pitchFamily="34" charset="0"/>
              </a:rPr>
              <a:t>because people are too poor to obtain enough food. </a:t>
            </a:r>
            <a:endParaRPr lang="en-US" sz="2400" dirty="0" smtClean="0">
              <a:solidFill>
                <a:srgbClr val="FFC000"/>
              </a:solidFill>
              <a:latin typeface="Calibri" panose="020F0502020204030204" pitchFamily="34" charset="0"/>
              <a:cs typeface="Calibri" panose="020F0502020204030204" pitchFamily="34" charset="0"/>
            </a:endParaRPr>
          </a:p>
          <a:p>
            <a:r>
              <a:rPr lang="en-US" sz="2400" b="1" dirty="0" smtClean="0">
                <a:solidFill>
                  <a:srgbClr val="3AF84C"/>
                </a:solidFill>
                <a:latin typeface="Calibri" panose="020F0502020204030204" pitchFamily="34" charset="0"/>
                <a:cs typeface="Calibri" panose="020F0502020204030204" pitchFamily="34" charset="0"/>
              </a:rPr>
              <a:t>LACK </a:t>
            </a:r>
            <a:r>
              <a:rPr lang="en-US" sz="2400" b="1" dirty="0">
                <a:solidFill>
                  <a:srgbClr val="3AF84C"/>
                </a:solidFill>
                <a:latin typeface="Calibri" panose="020F0502020204030204" pitchFamily="34" charset="0"/>
                <a:cs typeface="Calibri" panose="020F0502020204030204" pitchFamily="34" charset="0"/>
              </a:rPr>
              <a:t>OF SAFE DRINKING </a:t>
            </a:r>
            <a:r>
              <a:rPr lang="en-US" sz="2400" b="1" dirty="0" smtClean="0">
                <a:solidFill>
                  <a:srgbClr val="3AF84C"/>
                </a:solidFill>
                <a:latin typeface="Calibri" panose="020F0502020204030204" pitchFamily="34" charset="0"/>
                <a:cs typeface="Calibri" panose="020F0502020204030204" pitchFamily="34" charset="0"/>
              </a:rPr>
              <a:t>WATER-</a:t>
            </a:r>
            <a:r>
              <a:rPr lang="en-US" sz="2400" b="1" dirty="0" smtClean="0">
                <a:solidFill>
                  <a:srgbClr val="FFC000"/>
                </a:solidFill>
                <a:latin typeface="Calibri" panose="020F0502020204030204" pitchFamily="34" charset="0"/>
                <a:cs typeface="Calibri" panose="020F0502020204030204" pitchFamily="34" charset="0"/>
              </a:rPr>
              <a:t> </a:t>
            </a:r>
            <a:r>
              <a:rPr lang="en-US" sz="2400" dirty="0" smtClean="0">
                <a:solidFill>
                  <a:srgbClr val="FFC000"/>
                </a:solidFill>
                <a:latin typeface="Calibri" panose="020F0502020204030204" pitchFamily="34" charset="0"/>
                <a:cs typeface="Calibri" panose="020F0502020204030204" pitchFamily="34" charset="0"/>
              </a:rPr>
              <a:t>Lack </a:t>
            </a:r>
            <a:r>
              <a:rPr lang="en-US" sz="2400" dirty="0">
                <a:solidFill>
                  <a:srgbClr val="FFC000"/>
                </a:solidFill>
                <a:latin typeface="Calibri" panose="020F0502020204030204" pitchFamily="34" charset="0"/>
                <a:cs typeface="Calibri" panose="020F0502020204030204" pitchFamily="34" charset="0"/>
              </a:rPr>
              <a:t>of potable water, poor sanitation, and dangerous hygiene practices increase vulnerability to infectious and water-borne </a:t>
            </a:r>
            <a:r>
              <a:rPr lang="en-US" sz="2400" dirty="0" smtClean="0">
                <a:solidFill>
                  <a:srgbClr val="FFC000"/>
                </a:solidFill>
                <a:latin typeface="Calibri" panose="020F0502020204030204" pitchFamily="34" charset="0"/>
                <a:cs typeface="Calibri" panose="020F0502020204030204" pitchFamily="34" charset="0"/>
              </a:rPr>
              <a:t>diseases.</a:t>
            </a:r>
            <a:endParaRPr lang="en-US" sz="2400" dirty="0">
              <a:solidFill>
                <a:srgbClr val="FFC000"/>
              </a:solidFill>
              <a:latin typeface="Calibri" panose="020F0502020204030204" pitchFamily="34" charset="0"/>
              <a:cs typeface="Calibri" panose="020F0502020204030204" pitchFamily="34" charset="0"/>
            </a:endParaRPr>
          </a:p>
          <a:p>
            <a:r>
              <a:rPr lang="en-US" sz="2400" b="1" dirty="0" smtClean="0">
                <a:solidFill>
                  <a:srgbClr val="3AF84C"/>
                </a:solidFill>
                <a:latin typeface="Calibri" panose="020F0502020204030204" pitchFamily="34" charset="0"/>
                <a:cs typeface="Calibri" panose="020F0502020204030204" pitchFamily="34" charset="0"/>
              </a:rPr>
              <a:t>DISEASE -</a:t>
            </a:r>
            <a:r>
              <a:rPr lang="en-US" sz="2400" dirty="0" smtClean="0">
                <a:solidFill>
                  <a:srgbClr val="FFC000"/>
                </a:solidFill>
                <a:latin typeface="Calibri" panose="020F0502020204030204" pitchFamily="34" charset="0"/>
                <a:cs typeface="Calibri" panose="020F0502020204030204" pitchFamily="34" charset="0"/>
              </a:rPr>
              <a:t>A </a:t>
            </a:r>
            <a:r>
              <a:rPr lang="en-US" sz="2400" dirty="0">
                <a:solidFill>
                  <a:srgbClr val="FFC000"/>
                </a:solidFill>
                <a:latin typeface="Calibri" panose="020F0502020204030204" pitchFamily="34" charset="0"/>
                <a:cs typeface="Calibri" panose="020F0502020204030204" pitchFamily="34" charset="0"/>
              </a:rPr>
              <a:t>combination of disease and malnutrition weakens the </a:t>
            </a:r>
            <a:r>
              <a:rPr lang="en-US" sz="2400" dirty="0" smtClean="0">
                <a:solidFill>
                  <a:srgbClr val="FFC000"/>
                </a:solidFill>
                <a:latin typeface="Calibri" panose="020F0502020204030204" pitchFamily="34" charset="0"/>
                <a:cs typeface="Calibri" panose="020F0502020204030204" pitchFamily="34" charset="0"/>
              </a:rPr>
              <a:t>metabolism which leads to </a:t>
            </a:r>
            <a:r>
              <a:rPr lang="en-US" sz="2400" dirty="0">
                <a:solidFill>
                  <a:srgbClr val="FFC000"/>
                </a:solidFill>
                <a:latin typeface="Calibri" panose="020F0502020204030204" pitchFamily="34" charset="0"/>
                <a:cs typeface="Calibri" panose="020F0502020204030204" pitchFamily="34" charset="0"/>
              </a:rPr>
              <a:t>vulnerability to illness. </a:t>
            </a:r>
            <a:endParaRPr lang="en-US" sz="2400" dirty="0" smtClean="0">
              <a:solidFill>
                <a:srgbClr val="FFC000"/>
              </a:solidFill>
              <a:latin typeface="Calibri" panose="020F0502020204030204" pitchFamily="34" charset="0"/>
              <a:cs typeface="Calibri" panose="020F0502020204030204" pitchFamily="34" charset="0"/>
            </a:endParaRPr>
          </a:p>
          <a:p>
            <a:r>
              <a:rPr lang="en-US" sz="2400" b="1" dirty="0" smtClean="0">
                <a:solidFill>
                  <a:srgbClr val="3AF84C"/>
                </a:solidFill>
                <a:latin typeface="Calibri" panose="020F0502020204030204" pitchFamily="34" charset="0"/>
                <a:cs typeface="Calibri" panose="020F0502020204030204" pitchFamily="34" charset="0"/>
              </a:rPr>
              <a:t>CONFLICTS-</a:t>
            </a:r>
            <a:r>
              <a:rPr lang="en-US" sz="2400" b="1" dirty="0" smtClean="0">
                <a:solidFill>
                  <a:srgbClr val="FFC000"/>
                </a:solidFill>
                <a:latin typeface="Calibri" panose="020F0502020204030204" pitchFamily="34" charset="0"/>
                <a:cs typeface="Calibri" panose="020F0502020204030204" pitchFamily="34" charset="0"/>
              </a:rPr>
              <a:t> </a:t>
            </a:r>
            <a:r>
              <a:rPr lang="en-US" sz="2400" dirty="0" smtClean="0">
                <a:solidFill>
                  <a:srgbClr val="FFC000"/>
                </a:solidFill>
                <a:latin typeface="Calibri" panose="020F0502020204030204" pitchFamily="34" charset="0"/>
                <a:cs typeface="Calibri" panose="020F0502020204030204" pitchFamily="34" charset="0"/>
              </a:rPr>
              <a:t>Conflicts </a:t>
            </a:r>
            <a:r>
              <a:rPr lang="en-US" sz="2400" dirty="0">
                <a:solidFill>
                  <a:srgbClr val="FFC000"/>
                </a:solidFill>
                <a:latin typeface="Calibri" panose="020F0502020204030204" pitchFamily="34" charset="0"/>
                <a:cs typeface="Calibri" panose="020F0502020204030204" pitchFamily="34" charset="0"/>
              </a:rPr>
              <a:t>have a direct impact on food security, drastically compromising access to food. </a:t>
            </a:r>
            <a:endParaRPr lang="en-US" sz="2400" dirty="0" smtClean="0">
              <a:solidFill>
                <a:srgbClr val="FFC000"/>
              </a:solidFill>
              <a:latin typeface="Calibri" panose="020F0502020204030204" pitchFamily="34" charset="0"/>
              <a:cs typeface="Calibri" panose="020F0502020204030204" pitchFamily="34" charset="0"/>
            </a:endParaRPr>
          </a:p>
        </p:txBody>
      </p:sp>
      <p:pic>
        <p:nvPicPr>
          <p:cNvPr id="3074" name="Picture 2" descr="hunger caus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846" y="1492988"/>
            <a:ext cx="3481381" cy="2230448"/>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mage result for causes of hunger in ind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846" y="4120279"/>
            <a:ext cx="3481381" cy="2230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20805"/>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074"/>
                                        </p:tgtEl>
                                        <p:attrNameLst>
                                          <p:attrName>style.visibility</p:attrName>
                                        </p:attrNameLst>
                                      </p:cBhvr>
                                      <p:to>
                                        <p:strVal val="visible"/>
                                      </p:to>
                                    </p:set>
                                    <p:animEffect transition="in" filter="barn(inVertical)">
                                      <p:cBhvr>
                                        <p:cTn id="12" dur="500"/>
                                        <p:tgtEl>
                                          <p:spTgt spid="307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078"/>
                                        </p:tgtEl>
                                        <p:attrNameLst>
                                          <p:attrName>style.visibility</p:attrName>
                                        </p:attrNameLst>
                                      </p:cBhvr>
                                      <p:to>
                                        <p:strVal val="visible"/>
                                      </p:to>
                                    </p:set>
                                    <p:animEffect transition="in" filter="barn(inVertical)">
                                      <p:cBhvr>
                                        <p:cTn id="17" dur="500"/>
                                        <p:tgtEl>
                                          <p:spTgt spid="3078"/>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 calcmode="lin" valueType="num">
                                      <p:cBhvr>
                                        <p:cTn id="22"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23"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24"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5" dur="1000"/>
                                        <p:tgtEl>
                                          <p:spTgt spid="3">
                                            <p:txEl>
                                              <p:pRg st="0" end="0"/>
                                            </p:txEl>
                                          </p:spTgt>
                                        </p:tgtEl>
                                      </p:cBhvr>
                                    </p:animEffect>
                                  </p:childTnLst>
                                </p:cTn>
                              </p:par>
                              <p:par>
                                <p:cTn id="26" presetID="31" presetClass="entr" presetSubtype="0" fill="hold" nodeType="with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 calcmode="lin" valueType="num">
                                      <p:cBhvr>
                                        <p:cTn id="28"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9"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30"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1" dur="1000"/>
                                        <p:tgtEl>
                                          <p:spTgt spid="3">
                                            <p:txEl>
                                              <p:pRg st="1" end="1"/>
                                            </p:txEl>
                                          </p:spTgt>
                                        </p:tgtEl>
                                      </p:cBhvr>
                                    </p:animEffect>
                                  </p:childTnLst>
                                </p:cTn>
                              </p:par>
                              <p:par>
                                <p:cTn id="32" presetID="31" presetClass="entr" presetSubtype="0" fill="hold" nodeType="withEffect">
                                  <p:stCondLst>
                                    <p:cond delay="0"/>
                                  </p:stCondLst>
                                  <p:childTnLst>
                                    <p:set>
                                      <p:cBhvr>
                                        <p:cTn id="33" dur="1" fill="hold">
                                          <p:stCondLst>
                                            <p:cond delay="0"/>
                                          </p:stCondLst>
                                        </p:cTn>
                                        <p:tgtEl>
                                          <p:spTgt spid="3">
                                            <p:txEl>
                                              <p:pRg st="2" end="2"/>
                                            </p:txEl>
                                          </p:spTgt>
                                        </p:tgtEl>
                                        <p:attrNameLst>
                                          <p:attrName>style.visibility</p:attrName>
                                        </p:attrNameLst>
                                      </p:cBhvr>
                                      <p:to>
                                        <p:strVal val="visible"/>
                                      </p:to>
                                    </p:set>
                                    <p:anim calcmode="lin" valueType="num">
                                      <p:cBhvr>
                                        <p:cTn id="34"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5"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36"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7" dur="1000"/>
                                        <p:tgtEl>
                                          <p:spTgt spid="3">
                                            <p:txEl>
                                              <p:pRg st="2" end="2"/>
                                            </p:txEl>
                                          </p:spTgt>
                                        </p:tgtEl>
                                      </p:cBhvr>
                                    </p:animEffect>
                                  </p:childTnLst>
                                </p:cTn>
                              </p:par>
                              <p:par>
                                <p:cTn id="38" presetID="31" presetClass="entr" presetSubtype="0" fill="hold" nodeType="withEffect">
                                  <p:stCondLst>
                                    <p:cond delay="0"/>
                                  </p:stCondLst>
                                  <p:childTnLst>
                                    <p:set>
                                      <p:cBhvr>
                                        <p:cTn id="39" dur="1" fill="hold">
                                          <p:stCondLst>
                                            <p:cond delay="0"/>
                                          </p:stCondLst>
                                        </p:cTn>
                                        <p:tgtEl>
                                          <p:spTgt spid="3">
                                            <p:txEl>
                                              <p:pRg st="3" end="3"/>
                                            </p:txEl>
                                          </p:spTgt>
                                        </p:tgtEl>
                                        <p:attrNameLst>
                                          <p:attrName>style.visibility</p:attrName>
                                        </p:attrNameLst>
                                      </p:cBhvr>
                                      <p:to>
                                        <p:strVal val="visible"/>
                                      </p:to>
                                    </p:set>
                                    <p:anim calcmode="lin" valueType="num">
                                      <p:cBhvr>
                                        <p:cTn id="40"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41"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42"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43" dur="1000"/>
                                        <p:tgtEl>
                                          <p:spTgt spid="3">
                                            <p:txEl>
                                              <p:pRg st="3" end="3"/>
                                            </p:txEl>
                                          </p:spTgt>
                                        </p:tgtEl>
                                      </p:cBhvr>
                                    </p:animEffect>
                                  </p:childTnLst>
                                </p:cTn>
                              </p:par>
                              <p:par>
                                <p:cTn id="44" presetID="31" presetClass="entr" presetSubtype="0" fill="hold" nodeType="withEffect">
                                  <p:stCondLst>
                                    <p:cond delay="0"/>
                                  </p:stCondLst>
                                  <p:childTnLst>
                                    <p:set>
                                      <p:cBhvr>
                                        <p:cTn id="45" dur="1" fill="hold">
                                          <p:stCondLst>
                                            <p:cond delay="0"/>
                                          </p:stCondLst>
                                        </p:cTn>
                                        <p:tgtEl>
                                          <p:spTgt spid="3">
                                            <p:txEl>
                                              <p:pRg st="4" end="4"/>
                                            </p:txEl>
                                          </p:spTgt>
                                        </p:tgtEl>
                                        <p:attrNameLst>
                                          <p:attrName>style.visibility</p:attrName>
                                        </p:attrNameLst>
                                      </p:cBhvr>
                                      <p:to>
                                        <p:strVal val="visible"/>
                                      </p:to>
                                    </p:set>
                                    <p:anim calcmode="lin" valueType="num">
                                      <p:cBhvr>
                                        <p:cTn id="46"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7"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48"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49"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05" y="-15631"/>
            <a:ext cx="10635916" cy="1325563"/>
          </a:xfrm>
        </p:spPr>
        <p:txBody>
          <a:bodyPr>
            <a:noAutofit/>
          </a:bodyPr>
          <a:lstStyle/>
          <a:p>
            <a:pPr algn="ctr"/>
            <a:r>
              <a:rPr lang="en-US" sz="6150" b="1" u="sng" dirty="0">
                <a:solidFill>
                  <a:srgbClr val="6DF6F9"/>
                </a:solidFill>
                <a:effectLst>
                  <a:glow rad="228600">
                    <a:schemeClr val="accent4">
                      <a:satMod val="175000"/>
                      <a:alpha val="40000"/>
                    </a:schemeClr>
                  </a:glow>
                </a:effectLst>
                <a:latin typeface="Arial Rounded MT Bold" panose="020F0704030504030204" pitchFamily="34" charset="0"/>
              </a:rPr>
              <a:t>Causes of hunger in Nepal- </a:t>
            </a:r>
          </a:p>
        </p:txBody>
      </p:sp>
      <p:sp>
        <p:nvSpPr>
          <p:cNvPr id="3" name="Content Placeholder 2"/>
          <p:cNvSpPr>
            <a:spLocks noGrp="1"/>
          </p:cNvSpPr>
          <p:nvPr>
            <p:ph sz="half" idx="1"/>
          </p:nvPr>
        </p:nvSpPr>
        <p:spPr>
          <a:xfrm>
            <a:off x="0" y="1155924"/>
            <a:ext cx="6493635" cy="2897747"/>
          </a:xfrm>
        </p:spPr>
        <p:txBody>
          <a:bodyPr>
            <a:normAutofit/>
          </a:bodyPr>
          <a:lstStyle/>
          <a:p>
            <a:pPr fontAlgn="base"/>
            <a:r>
              <a:rPr lang="en-US" sz="2000" dirty="0">
                <a:solidFill>
                  <a:srgbClr val="33CCFF"/>
                </a:solidFill>
                <a:latin typeface="Arial" panose="020B0604020202020204" pitchFamily="34" charset="0"/>
                <a:cs typeface="Arial" panose="020B0604020202020204" pitchFamily="34" charset="0"/>
              </a:rPr>
              <a:t>One in four people in Nepal lives below the national poverty line that is just 50 cents per day. People that live under the poverty line do not have enough money to meet their basic needs like food, clothing and shelter.</a:t>
            </a:r>
          </a:p>
          <a:p>
            <a:pPr fontAlgn="base"/>
            <a:r>
              <a:rPr lang="en-US" sz="2000" dirty="0">
                <a:solidFill>
                  <a:srgbClr val="33CCFF"/>
                </a:solidFill>
                <a:latin typeface="Arial" panose="020B0604020202020204" pitchFamily="34" charset="0"/>
                <a:cs typeface="Arial" panose="020B0604020202020204" pitchFamily="34" charset="0"/>
              </a:rPr>
              <a:t>Those who live in mountainous, more rural areas are the most likely to suffer from poverty and hunger that affects the country.</a:t>
            </a:r>
          </a:p>
          <a:p>
            <a:endParaRPr lang="en-US" dirty="0"/>
          </a:p>
        </p:txBody>
      </p:sp>
      <p:sp>
        <p:nvSpPr>
          <p:cNvPr id="4" name="Content Placeholder 3"/>
          <p:cNvSpPr>
            <a:spLocks noGrp="1"/>
          </p:cNvSpPr>
          <p:nvPr>
            <p:ph sz="half" idx="2"/>
          </p:nvPr>
        </p:nvSpPr>
        <p:spPr>
          <a:xfrm>
            <a:off x="5563674" y="3815938"/>
            <a:ext cx="6628326" cy="2970124"/>
          </a:xfrm>
        </p:spPr>
        <p:txBody>
          <a:bodyPr>
            <a:normAutofit/>
          </a:bodyPr>
          <a:lstStyle/>
          <a:p>
            <a:pPr fontAlgn="base"/>
            <a:r>
              <a:rPr lang="en-US" sz="2000" dirty="0">
                <a:solidFill>
                  <a:srgbClr val="33CCFF"/>
                </a:solidFill>
                <a:latin typeface="Arial" panose="020B0604020202020204" pitchFamily="34" charset="0"/>
                <a:cs typeface="Arial" panose="020B0604020202020204" pitchFamily="34" charset="0"/>
              </a:rPr>
              <a:t>Agriculture provides work to 68 percent of Nepal’s population and accounts for 34 percent of the country’s GDP, yet food is in low supply for Nepali citizens.</a:t>
            </a:r>
          </a:p>
          <a:p>
            <a:pPr fontAlgn="base"/>
            <a:r>
              <a:rPr lang="en-US" sz="2000" dirty="0">
                <a:solidFill>
                  <a:srgbClr val="33CCFF"/>
                </a:solidFill>
                <a:latin typeface="Arial" panose="020B0604020202020204" pitchFamily="34" charset="0"/>
                <a:cs typeface="Arial" panose="020B0604020202020204" pitchFamily="34" charset="0"/>
              </a:rPr>
              <a:t>Nepalese children who are stunted suffer from a variety of severe mental and health issues, especially in the first 1,000 days of their lives. These issues can reflect on their adult life, specifically on poor cognition, nutritional issues and even low wages.</a:t>
            </a:r>
          </a:p>
          <a:p>
            <a:endParaRPr lang="en-US" dirty="0"/>
          </a:p>
          <a:p>
            <a:endParaRPr lang="en-US" dirty="0"/>
          </a:p>
        </p:txBody>
      </p:sp>
      <p:pic>
        <p:nvPicPr>
          <p:cNvPr id="1026" name="Picture 2" descr="Image result for Causes of hunger in Nepal"/>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0981"/>
          <a:stretch/>
        </p:blipFill>
        <p:spPr bwMode="auto">
          <a:xfrm>
            <a:off x="6993920" y="1155924"/>
            <a:ext cx="3767833" cy="264834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Causes of hunger in Nep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581" y="3887876"/>
            <a:ext cx="4765183" cy="2671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2939373"/>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diamond(in)">
                                      <p:cBhvr>
                                        <p:cTn id="13" dur="2000"/>
                                        <p:tgtEl>
                                          <p:spTgt spid="3">
                                            <p:txEl>
                                              <p:pRg st="0" end="0"/>
                                            </p:txEl>
                                          </p:spTgt>
                                        </p:tgtEl>
                                      </p:cBhvr>
                                    </p:animEffect>
                                  </p:childTnLst>
                                </p:cTn>
                              </p:par>
                              <p:par>
                                <p:cTn id="14" presetID="8" presetClass="entr" presetSubtype="16"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diamond(in)">
                                      <p:cBhvr>
                                        <p:cTn id="16" dur="2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026"/>
                                        </p:tgtEl>
                                        <p:attrNameLst>
                                          <p:attrName>style.visibility</p:attrName>
                                        </p:attrNameLst>
                                      </p:cBhvr>
                                      <p:to>
                                        <p:strVal val="visible"/>
                                      </p:to>
                                    </p:set>
                                    <p:animEffect transition="in" filter="wipe(down)">
                                      <p:cBhvr>
                                        <p:cTn id="21" dur="500"/>
                                        <p:tgtEl>
                                          <p:spTgt spid="1026"/>
                                        </p:tgtEl>
                                      </p:cBhvr>
                                    </p:animEffect>
                                  </p:childTnLst>
                                </p:cTn>
                              </p:par>
                            </p:childTnLst>
                          </p:cTn>
                        </p:par>
                      </p:childTnLst>
                    </p:cTn>
                  </p:par>
                  <p:par>
                    <p:cTn id="22" fill="hold">
                      <p:stCondLst>
                        <p:cond delay="indefinite"/>
                      </p:stCondLst>
                      <p:childTnLst>
                        <p:par>
                          <p:cTn id="23" fill="hold">
                            <p:stCondLst>
                              <p:cond delay="0"/>
                            </p:stCondLst>
                            <p:childTnLst>
                              <p:par>
                                <p:cTn id="24" presetID="8" presetClass="entr" presetSubtype="16" fill="hold" nodeType="clickEffect">
                                  <p:stCondLst>
                                    <p:cond delay="0"/>
                                  </p:stCondLst>
                                  <p:childTnLst>
                                    <p:set>
                                      <p:cBhvr>
                                        <p:cTn id="25" dur="1" fill="hold">
                                          <p:stCondLst>
                                            <p:cond delay="0"/>
                                          </p:stCondLst>
                                        </p:cTn>
                                        <p:tgtEl>
                                          <p:spTgt spid="4">
                                            <p:txEl>
                                              <p:pRg st="0" end="0"/>
                                            </p:txEl>
                                          </p:spTgt>
                                        </p:tgtEl>
                                        <p:attrNameLst>
                                          <p:attrName>style.visibility</p:attrName>
                                        </p:attrNameLst>
                                      </p:cBhvr>
                                      <p:to>
                                        <p:strVal val="visible"/>
                                      </p:to>
                                    </p:set>
                                    <p:animEffect transition="in" filter="diamond(in)">
                                      <p:cBhvr>
                                        <p:cTn id="26" dur="2000"/>
                                        <p:tgtEl>
                                          <p:spTgt spid="4">
                                            <p:txEl>
                                              <p:pRg st="0" end="0"/>
                                            </p:txEl>
                                          </p:spTgt>
                                        </p:tgtEl>
                                      </p:cBhvr>
                                    </p:animEffect>
                                  </p:childTnLst>
                                </p:cTn>
                              </p:par>
                              <p:par>
                                <p:cTn id="27" presetID="8" presetClass="entr" presetSubtype="16" fill="hold" nodeType="with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animEffect transition="in" filter="diamond(in)">
                                      <p:cBhvr>
                                        <p:cTn id="29" dur="2000"/>
                                        <p:tgtEl>
                                          <p:spTgt spid="4">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028"/>
                                        </p:tgtEl>
                                        <p:attrNameLst>
                                          <p:attrName>style.visibility</p:attrName>
                                        </p:attrNameLst>
                                      </p:cBhvr>
                                      <p:to>
                                        <p:strVal val="visible"/>
                                      </p:to>
                                    </p:set>
                                    <p:animEffect transition="in" filter="wipe(down)">
                                      <p:cBhvr>
                                        <p:cTn id="34"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182" y="0"/>
            <a:ext cx="10429741" cy="1325563"/>
          </a:xfrm>
        </p:spPr>
        <p:txBody>
          <a:bodyPr>
            <a:noAutofit/>
          </a:bodyPr>
          <a:lstStyle/>
          <a:p>
            <a:r>
              <a:rPr lang="en-US" sz="7500" b="1" u="sng" dirty="0" smtClean="0">
                <a:solidFill>
                  <a:srgbClr val="FFFF00"/>
                </a:solidFill>
                <a:latin typeface="Baskerville Old Face" panose="02020602080505020303" pitchFamily="18" charset="0"/>
              </a:rPr>
              <a:t>Extent of hunger in India</a:t>
            </a:r>
            <a:r>
              <a:rPr lang="en-US" sz="7500" b="1" u="sng" dirty="0" smtClean="0">
                <a:solidFill>
                  <a:srgbClr val="9900CC"/>
                </a:solidFill>
                <a:latin typeface="Baskerville Old Face" panose="02020602080505020303" pitchFamily="18" charset="0"/>
              </a:rPr>
              <a:t>  </a:t>
            </a:r>
            <a:endParaRPr lang="en-US" sz="7500" b="1" u="sng" dirty="0">
              <a:solidFill>
                <a:srgbClr val="9900CC"/>
              </a:solidFill>
              <a:latin typeface="Baskerville Old Face" panose="02020602080505020303" pitchFamily="18" charset="0"/>
            </a:endParaRPr>
          </a:p>
        </p:txBody>
      </p:sp>
      <p:sp>
        <p:nvSpPr>
          <p:cNvPr id="3" name="Content Placeholder 2"/>
          <p:cNvSpPr>
            <a:spLocks noGrp="1"/>
          </p:cNvSpPr>
          <p:nvPr>
            <p:ph idx="1"/>
          </p:nvPr>
        </p:nvSpPr>
        <p:spPr>
          <a:xfrm>
            <a:off x="66551" y="1236372"/>
            <a:ext cx="8886423" cy="5621628"/>
          </a:xfrm>
        </p:spPr>
        <p:txBody>
          <a:bodyPr>
            <a:noAutofit/>
          </a:bodyPr>
          <a:lstStyle/>
          <a:p>
            <a:pPr marL="0" indent="0">
              <a:buNone/>
            </a:pPr>
            <a:r>
              <a:rPr lang="en-US" sz="1800" b="1" dirty="0">
                <a:solidFill>
                  <a:srgbClr val="FFFF00"/>
                </a:solidFill>
                <a:latin typeface="Arial" panose="020B0604020202020204" pitchFamily="34" charset="0"/>
                <a:cs typeface="Arial" panose="020B0604020202020204" pitchFamily="34" charset="0"/>
              </a:rPr>
              <a:t>Hunger in </a:t>
            </a:r>
            <a:r>
              <a:rPr lang="en-US" sz="1800" b="1" dirty="0" smtClean="0">
                <a:solidFill>
                  <a:srgbClr val="FFFF00"/>
                </a:solidFill>
                <a:latin typeface="Arial" panose="020B0604020202020204" pitchFamily="34" charset="0"/>
                <a:cs typeface="Arial" panose="020B0604020202020204" pitchFamily="34" charset="0"/>
              </a:rPr>
              <a:t>India- </a:t>
            </a:r>
            <a:r>
              <a:rPr lang="en-US" sz="1800" dirty="0" smtClean="0">
                <a:solidFill>
                  <a:srgbClr val="00FFFF"/>
                </a:solidFill>
                <a:latin typeface="Arial" panose="020B0604020202020204" pitchFamily="34" charset="0"/>
                <a:cs typeface="Arial" panose="020B0604020202020204" pitchFamily="34" charset="0"/>
              </a:rPr>
              <a:t>India</a:t>
            </a:r>
            <a:r>
              <a:rPr lang="en-US" sz="1800" dirty="0">
                <a:solidFill>
                  <a:srgbClr val="00FFFF"/>
                </a:solidFill>
                <a:latin typeface="Arial" panose="020B0604020202020204" pitchFamily="34" charset="0"/>
                <a:cs typeface="Arial" panose="020B0604020202020204" pitchFamily="34" charset="0"/>
              </a:rPr>
              <a:t>, with a population of over 1.3 billion, has seen tremendous growth in the past two decades. Gross Domestic Product has increased 4.5 times and per capita consumption has increased 3 times. Similarly, food grain production has increased almost 2 times. However</a:t>
            </a:r>
            <a:r>
              <a:rPr lang="en-US" sz="1800" dirty="0" smtClean="0">
                <a:solidFill>
                  <a:srgbClr val="00FFFF"/>
                </a:solidFill>
                <a:latin typeface="Arial" panose="020B0604020202020204" pitchFamily="34" charset="0"/>
                <a:cs typeface="Arial" panose="020B0604020202020204" pitchFamily="34" charset="0"/>
              </a:rPr>
              <a:t>, </a:t>
            </a:r>
            <a:r>
              <a:rPr lang="en-US" sz="1800" dirty="0">
                <a:solidFill>
                  <a:srgbClr val="00FFFF"/>
                </a:solidFill>
                <a:latin typeface="Arial" panose="020B0604020202020204" pitchFamily="34" charset="0"/>
                <a:cs typeface="Arial" panose="020B0604020202020204" pitchFamily="34" charset="0"/>
              </a:rPr>
              <a:t>it is unable to provide access to food to a large number of people, especially women and children.</a:t>
            </a:r>
          </a:p>
          <a:p>
            <a:pPr marL="0" indent="0">
              <a:buNone/>
            </a:pPr>
            <a:r>
              <a:rPr lang="en-US" sz="1800" b="1" dirty="0">
                <a:solidFill>
                  <a:srgbClr val="FFFF00"/>
                </a:solidFill>
                <a:latin typeface="Arial" panose="020B0604020202020204" pitchFamily="34" charset="0"/>
                <a:cs typeface="Arial" panose="020B0604020202020204" pitchFamily="34" charset="0"/>
              </a:rPr>
              <a:t>State of Hunger in </a:t>
            </a:r>
            <a:r>
              <a:rPr lang="en-US" sz="1800" b="1" dirty="0" smtClean="0">
                <a:solidFill>
                  <a:srgbClr val="FFFF00"/>
                </a:solidFill>
                <a:latin typeface="Arial" panose="020B0604020202020204" pitchFamily="34" charset="0"/>
                <a:cs typeface="Arial" panose="020B0604020202020204" pitchFamily="34" charset="0"/>
              </a:rPr>
              <a:t>India- </a:t>
            </a:r>
            <a:r>
              <a:rPr lang="en-US" sz="1800" dirty="0" smtClean="0">
                <a:solidFill>
                  <a:srgbClr val="00FFFF"/>
                </a:solidFill>
                <a:latin typeface="Arial" panose="020B0604020202020204" pitchFamily="34" charset="0"/>
                <a:cs typeface="Arial" panose="020B0604020202020204" pitchFamily="34" charset="0"/>
              </a:rPr>
              <a:t>194.4 </a:t>
            </a:r>
            <a:r>
              <a:rPr lang="en-US" sz="1800" dirty="0">
                <a:solidFill>
                  <a:srgbClr val="00FFFF"/>
                </a:solidFill>
                <a:latin typeface="Arial" panose="020B0604020202020204" pitchFamily="34" charset="0"/>
                <a:cs typeface="Arial" panose="020B0604020202020204" pitchFamily="34" charset="0"/>
              </a:rPr>
              <a:t>million people are undernourished in India. By this measure 14.5% of the population is undernourished in India. Also, 51.4% of women in reproductive age between 15 to 49 years are </a:t>
            </a:r>
            <a:r>
              <a:rPr lang="en-US" sz="1800" dirty="0" err="1">
                <a:solidFill>
                  <a:srgbClr val="00FFFF"/>
                </a:solidFill>
                <a:latin typeface="Arial" panose="020B0604020202020204" pitchFamily="34" charset="0"/>
                <a:cs typeface="Arial" panose="020B0604020202020204" pitchFamily="34" charset="0"/>
              </a:rPr>
              <a:t>anaemic</a:t>
            </a:r>
            <a:r>
              <a:rPr lang="en-US" sz="1800" dirty="0">
                <a:solidFill>
                  <a:srgbClr val="00FFFF"/>
                </a:solidFill>
                <a:latin typeface="Arial" panose="020B0604020202020204" pitchFamily="34" charset="0"/>
                <a:cs typeface="Arial" panose="020B0604020202020204" pitchFamily="34" charset="0"/>
              </a:rPr>
              <a:t>. Further according to the report 37.9% of the children aged under five in India are stunted (too short for their age), while 20.8% suffer from wasting, meaning their weight is too low for their height. Malnourished children have a higher risk of death from common childhood </a:t>
            </a:r>
            <a:r>
              <a:rPr lang="en-US" sz="1800" dirty="0" smtClean="0">
                <a:solidFill>
                  <a:srgbClr val="00FFFF"/>
                </a:solidFill>
                <a:latin typeface="Arial" panose="020B0604020202020204" pitchFamily="34" charset="0"/>
                <a:cs typeface="Arial" panose="020B0604020202020204" pitchFamily="34" charset="0"/>
              </a:rPr>
              <a:t>illnesses. </a:t>
            </a:r>
            <a:r>
              <a:rPr lang="en-US" sz="1800" dirty="0">
                <a:solidFill>
                  <a:srgbClr val="00FFFF"/>
                </a:solidFill>
                <a:latin typeface="Arial" panose="020B0604020202020204" pitchFamily="34" charset="0"/>
                <a:cs typeface="Arial" panose="020B0604020202020204" pitchFamily="34" charset="0"/>
              </a:rPr>
              <a:t>The Global Hunger Index 2018 ranks India at 103 out of 119 </a:t>
            </a:r>
            <a:r>
              <a:rPr lang="en-US" sz="1800" dirty="0" smtClean="0">
                <a:solidFill>
                  <a:srgbClr val="00FFFF"/>
                </a:solidFill>
                <a:latin typeface="Arial" panose="020B0604020202020204" pitchFamily="34" charset="0"/>
                <a:cs typeface="Arial" panose="020B0604020202020204" pitchFamily="34" charset="0"/>
              </a:rPr>
              <a:t>countries.</a:t>
            </a:r>
          </a:p>
          <a:p>
            <a:pPr marL="0" indent="0">
              <a:buNone/>
            </a:pPr>
            <a:r>
              <a:rPr lang="en-US" sz="1800" b="1" dirty="0" smtClean="0">
                <a:solidFill>
                  <a:srgbClr val="FFFF00"/>
                </a:solidFill>
                <a:latin typeface="Arial" panose="020B0604020202020204" pitchFamily="34" charset="0"/>
                <a:cs typeface="Arial" panose="020B0604020202020204" pitchFamily="34" charset="0"/>
              </a:rPr>
              <a:t>Food </a:t>
            </a:r>
            <a:r>
              <a:rPr lang="en-US" sz="1800" b="1" dirty="0">
                <a:solidFill>
                  <a:srgbClr val="FFFF00"/>
                </a:solidFill>
                <a:latin typeface="Arial" panose="020B0604020202020204" pitchFamily="34" charset="0"/>
                <a:cs typeface="Arial" panose="020B0604020202020204" pitchFamily="34" charset="0"/>
              </a:rPr>
              <a:t>Loss &amp; Food </a:t>
            </a:r>
            <a:r>
              <a:rPr lang="en-US" sz="1800" b="1" dirty="0" smtClean="0">
                <a:solidFill>
                  <a:srgbClr val="FFFF00"/>
                </a:solidFill>
                <a:latin typeface="Arial" panose="020B0604020202020204" pitchFamily="34" charset="0"/>
                <a:cs typeface="Arial" panose="020B0604020202020204" pitchFamily="34" charset="0"/>
              </a:rPr>
              <a:t>Waste- </a:t>
            </a:r>
            <a:r>
              <a:rPr lang="en-US" sz="1800" dirty="0" smtClean="0">
                <a:solidFill>
                  <a:srgbClr val="00FFFF"/>
                </a:solidFill>
                <a:latin typeface="Arial" panose="020B0604020202020204" pitchFamily="34" charset="0"/>
                <a:cs typeface="Arial" panose="020B0604020202020204" pitchFamily="34" charset="0"/>
              </a:rPr>
              <a:t>It is estimated that nearly one third of the food produced in the world for human consumption every year gets lost or wasted. 40 percent of the fruits and vegetables, and 30 percent of cereals that are produced are lost due to inefficient supply chain management and do not reach the consumer markets. While significant levels of food losses occur upstream, at harvest and during post-harvest handling, a lot of food is lost or wasted during the distribution and consumption stages. Food is also wasted in domestic and business shelves. </a:t>
            </a:r>
            <a:endParaRPr lang="en-US" sz="1600" dirty="0">
              <a:latin typeface="Arial" panose="020B0604020202020204" pitchFamily="34" charset="0"/>
              <a:cs typeface="Arial" panose="020B0604020202020204" pitchFamily="34" charset="0"/>
            </a:endParaRPr>
          </a:p>
        </p:txBody>
      </p:sp>
      <p:pic>
        <p:nvPicPr>
          <p:cNvPr id="1029" name="Picture 5" descr="Image result for extent of hunger in in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2974" y="1493949"/>
            <a:ext cx="3181418" cy="212094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Image result for extent of hunger in ind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2975" y="4293673"/>
            <a:ext cx="3181417"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2313316"/>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3"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
                                        <p:tgtEl>
                                          <p:spTgt spid="2"/>
                                        </p:tgtEl>
                                      </p:cBhvr>
                                    </p:animEffect>
                                    <p:anim calcmode="lin" valueType="num">
                                      <p:cBhvr>
                                        <p:cTn id="8" dur="400" fill="hold"/>
                                        <p:tgtEl>
                                          <p:spTgt spid="2"/>
                                        </p:tgtEl>
                                        <p:attrNameLst>
                                          <p:attrName>ppt_x</p:attrName>
                                        </p:attrNameLst>
                                      </p:cBhvr>
                                      <p:tavLst>
                                        <p:tav tm="0">
                                          <p:val>
                                            <p:strVal val="#ppt_x"/>
                                          </p:val>
                                        </p:tav>
                                        <p:tav tm="100000">
                                          <p:val>
                                            <p:strVal val="#ppt_x"/>
                                          </p:val>
                                        </p:tav>
                                      </p:tavLst>
                                    </p:anim>
                                    <p:anim calcmode="lin" valueType="num">
                                      <p:cBhvr>
                                        <p:cTn id="9" dur="400" fill="hold"/>
                                        <p:tgtEl>
                                          <p:spTgt spid="2"/>
                                        </p:tgtEl>
                                        <p:attrNameLst>
                                          <p:attrName>ppt_y</p:attrName>
                                        </p:attrNameLst>
                                      </p:cBhvr>
                                      <p:tavLst>
                                        <p:tav tm="0">
                                          <p:val>
                                            <p:strVal val="#ppt_y+0.31"/>
                                          </p:val>
                                        </p:tav>
                                        <p:tav tm="100000">
                                          <p:val>
                                            <p:strVal val="#ppt_y+0.31"/>
                                          </p:val>
                                        </p:tav>
                                      </p:tavLst>
                                    </p:anim>
                                    <p:anim calcmode="lin" valueType="num">
                                      <p:cBhvr>
                                        <p:cTn id="10" dur="600" decel="50000" fill="hold">
                                          <p:stCondLst>
                                            <p:cond delay="400"/>
                                          </p:stCondLst>
                                        </p:cTn>
                                        <p:tgtEl>
                                          <p:spTgt spid="2"/>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600" decel="50000" fill="hold">
                                          <p:stCondLst>
                                            <p:cond delay="400"/>
                                          </p:stCondLst>
                                        </p:cTn>
                                        <p:tgtEl>
                                          <p:spTgt spid="2"/>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nodeType="click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wedge">
                                      <p:cBhvr>
                                        <p:cTn id="16" dur="2000"/>
                                        <p:tgtEl>
                                          <p:spTgt spid="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3" presetClass="entr" presetSubtype="16"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plus(in)">
                                      <p:cBhvr>
                                        <p:cTn id="21" dur="2000"/>
                                        <p:tgtEl>
                                          <p:spTgt spid="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6" dur="5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29"/>
                                        </p:tgtEl>
                                        <p:attrNameLst>
                                          <p:attrName>style.visibility</p:attrName>
                                        </p:attrNameLst>
                                      </p:cBhvr>
                                      <p:to>
                                        <p:strVal val="visible"/>
                                      </p:to>
                                    </p:set>
                                    <p:anim calcmode="lin" valueType="num">
                                      <p:cBhvr additive="base">
                                        <p:cTn id="31" dur="500" fill="hold"/>
                                        <p:tgtEl>
                                          <p:spTgt spid="1029"/>
                                        </p:tgtEl>
                                        <p:attrNameLst>
                                          <p:attrName>ppt_x</p:attrName>
                                        </p:attrNameLst>
                                      </p:cBhvr>
                                      <p:tavLst>
                                        <p:tav tm="0">
                                          <p:val>
                                            <p:strVal val="#ppt_x"/>
                                          </p:val>
                                        </p:tav>
                                        <p:tav tm="100000">
                                          <p:val>
                                            <p:strVal val="#ppt_x"/>
                                          </p:val>
                                        </p:tav>
                                      </p:tavLst>
                                    </p:anim>
                                    <p:anim calcmode="lin" valueType="num">
                                      <p:cBhvr additive="base">
                                        <p:cTn id="32" dur="500" fill="hold"/>
                                        <p:tgtEl>
                                          <p:spTgt spid="102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31"/>
                                        </p:tgtEl>
                                        <p:attrNameLst>
                                          <p:attrName>style.visibility</p:attrName>
                                        </p:attrNameLst>
                                      </p:cBhvr>
                                      <p:to>
                                        <p:strVal val="visible"/>
                                      </p:to>
                                    </p:set>
                                    <p:anim calcmode="lin" valueType="num">
                                      <p:cBhvr additive="base">
                                        <p:cTn id="37" dur="500" fill="hold"/>
                                        <p:tgtEl>
                                          <p:spTgt spid="1031"/>
                                        </p:tgtEl>
                                        <p:attrNameLst>
                                          <p:attrName>ppt_x</p:attrName>
                                        </p:attrNameLst>
                                      </p:cBhvr>
                                      <p:tavLst>
                                        <p:tav tm="0">
                                          <p:val>
                                            <p:strVal val="#ppt_x"/>
                                          </p:val>
                                        </p:tav>
                                        <p:tav tm="100000">
                                          <p:val>
                                            <p:strVal val="#ppt_x"/>
                                          </p:val>
                                        </p:tav>
                                      </p:tavLst>
                                    </p:anim>
                                    <p:anim calcmode="lin" valueType="num">
                                      <p:cBhvr additive="base">
                                        <p:cTn id="38" dur="500" fill="hold"/>
                                        <p:tgtEl>
                                          <p:spTgt spid="10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0" y="13063"/>
            <a:ext cx="10385562" cy="1106718"/>
          </a:xfrm>
        </p:spPr>
        <p:txBody>
          <a:bodyPr/>
          <a:lstStyle/>
          <a:p>
            <a:pPr algn="ctr"/>
            <a:r>
              <a:rPr lang="en-IN" sz="7500" b="1" u="sng" dirty="0" smtClean="0">
                <a:solidFill>
                  <a:srgbClr val="FFFF00"/>
                </a:solidFill>
                <a:latin typeface="Baskerville Old Face" panose="02020602080505020303" pitchFamily="18" charset="0"/>
              </a:rPr>
              <a:t>Extent of Hunger in Nepal</a:t>
            </a:r>
            <a:endParaRPr lang="en-IN" sz="7500" b="1" u="sng" dirty="0">
              <a:solidFill>
                <a:srgbClr val="FFFF00"/>
              </a:solidFill>
              <a:latin typeface="Baskerville Old Face" panose="02020602080505020303" pitchFamily="18" charset="0"/>
            </a:endParaRPr>
          </a:p>
        </p:txBody>
      </p:sp>
      <p:sp>
        <p:nvSpPr>
          <p:cNvPr id="13" name="TextBox 12"/>
          <p:cNvSpPr txBox="1"/>
          <p:nvPr/>
        </p:nvSpPr>
        <p:spPr>
          <a:xfrm>
            <a:off x="276581" y="972121"/>
            <a:ext cx="5852160" cy="2308324"/>
          </a:xfrm>
          <a:prstGeom prst="rect">
            <a:avLst/>
          </a:prstGeom>
          <a:noFill/>
        </p:spPr>
        <p:txBody>
          <a:bodyPr wrap="square" rtlCol="0">
            <a:spAutoFit/>
          </a:bodyPr>
          <a:lstStyle/>
          <a:p>
            <a:r>
              <a:rPr lang="en-IN" sz="2400" dirty="0" smtClean="0">
                <a:latin typeface="Constantia" panose="02030602050306030303" pitchFamily="18" charset="0"/>
              </a:rPr>
              <a:t>The growth in population of Nepal was not simultaneous with improvement in crop production. The cereal crop growth is scanty in the country causing intensive agriculture nearly impossible reducing the GDP by about 10%.</a:t>
            </a:r>
            <a:endParaRPr lang="en-IN" sz="2400" dirty="0">
              <a:latin typeface="Constantia" panose="02030602050306030303" pitchFamily="18" charset="0"/>
            </a:endParaRPr>
          </a:p>
        </p:txBody>
      </p:sp>
      <p:sp>
        <p:nvSpPr>
          <p:cNvPr id="14" name="TextBox 13"/>
          <p:cNvSpPr txBox="1"/>
          <p:nvPr/>
        </p:nvSpPr>
        <p:spPr>
          <a:xfrm>
            <a:off x="5718986" y="4060164"/>
            <a:ext cx="6224156" cy="2677656"/>
          </a:xfrm>
          <a:prstGeom prst="rect">
            <a:avLst/>
          </a:prstGeom>
          <a:noFill/>
        </p:spPr>
        <p:txBody>
          <a:bodyPr wrap="square" rtlCol="0">
            <a:spAutoFit/>
          </a:bodyPr>
          <a:lstStyle/>
          <a:p>
            <a:r>
              <a:rPr lang="en-US" sz="2400" dirty="0">
                <a:latin typeface="Constantia" panose="02030602050306030303" pitchFamily="18" charset="0"/>
              </a:rPr>
              <a:t>Poor diet diversity is a serious problem across much of Nepal where malnutrition plays a role in 60 percent of child deaths. About 518,000 children under five years of age are suffering from acute under-nutrition, or wasting, and have a heightened risk of morbidity and </a:t>
            </a:r>
            <a:r>
              <a:rPr lang="en-US" sz="2400" dirty="0" err="1" smtClean="0">
                <a:latin typeface="Constantia" panose="02030602050306030303" pitchFamily="18" charset="0"/>
              </a:rPr>
              <a:t>mortality.nx</a:t>
            </a:r>
            <a:endParaRPr lang="en-IN" sz="2400" dirty="0">
              <a:latin typeface="Constantia" panose="02030602050306030303" pitchFamily="18" charset="0"/>
            </a:endParaRP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2845" y="1095039"/>
            <a:ext cx="4415246" cy="2714282"/>
          </a:xfrm>
          <a:prstGeom prst="rect">
            <a:avLst/>
          </a:prstGeom>
        </p:spPr>
      </p:pic>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697" y="3682763"/>
            <a:ext cx="4573089" cy="2796414"/>
          </a:xfrm>
          <a:prstGeom prst="rect">
            <a:avLst/>
          </a:prstGeom>
        </p:spPr>
      </p:pic>
      <p:sp>
        <p:nvSpPr>
          <p:cNvPr id="17" name="TextBox 16"/>
          <p:cNvSpPr txBox="1"/>
          <p:nvPr/>
        </p:nvSpPr>
        <p:spPr>
          <a:xfrm>
            <a:off x="5718986" y="3979146"/>
            <a:ext cx="6286457" cy="2677656"/>
          </a:xfrm>
          <a:prstGeom prst="rect">
            <a:avLst/>
          </a:prstGeom>
          <a:noFill/>
        </p:spPr>
        <p:txBody>
          <a:bodyPr wrap="square" rtlCol="0">
            <a:spAutoFit/>
          </a:bodyPr>
          <a:lstStyle/>
          <a:p>
            <a:r>
              <a:rPr lang="en-US" sz="2400" dirty="0">
                <a:latin typeface="Constantia" panose="02030602050306030303" pitchFamily="18" charset="0"/>
              </a:rPr>
              <a:t>Climate variability and change </a:t>
            </a:r>
            <a:r>
              <a:rPr lang="en-US" sz="2400" dirty="0" smtClean="0">
                <a:latin typeface="Constantia" panose="02030602050306030303" pitchFamily="18" charset="0"/>
              </a:rPr>
              <a:t>affects </a:t>
            </a:r>
            <a:r>
              <a:rPr lang="en-US" sz="2400" dirty="0">
                <a:latin typeface="Constantia" panose="02030602050306030303" pitchFamily="18" charset="0"/>
              </a:rPr>
              <a:t>food security and nutrition through a combination of reduced food production, higher food prices, and lower food </a:t>
            </a:r>
            <a:r>
              <a:rPr lang="en-US" sz="2400" dirty="0" smtClean="0">
                <a:latin typeface="Constantia" panose="02030602050306030303" pitchFamily="18" charset="0"/>
              </a:rPr>
              <a:t>utilization and </a:t>
            </a:r>
            <a:r>
              <a:rPr lang="en-US" sz="2400" dirty="0">
                <a:latin typeface="Constantia" panose="02030602050306030303" pitchFamily="18" charset="0"/>
              </a:rPr>
              <a:t>more intense </a:t>
            </a:r>
            <a:r>
              <a:rPr lang="en-US" sz="2400" dirty="0" smtClean="0">
                <a:latin typeface="Constantia" panose="02030602050306030303" pitchFamily="18" charset="0"/>
              </a:rPr>
              <a:t>&amp; </a:t>
            </a:r>
            <a:r>
              <a:rPr lang="en-US" sz="2400" dirty="0">
                <a:latin typeface="Constantia" panose="02030602050306030303" pitchFamily="18" charset="0"/>
              </a:rPr>
              <a:t>frequent climate-related disasters, </a:t>
            </a:r>
            <a:r>
              <a:rPr lang="en-US" sz="2400" dirty="0" smtClean="0">
                <a:latin typeface="Constantia" panose="02030602050306030303" pitchFamily="18" charset="0"/>
              </a:rPr>
              <a:t>which negatively </a:t>
            </a:r>
            <a:r>
              <a:rPr lang="en-US" sz="2400" dirty="0">
                <a:latin typeface="Constantia" panose="02030602050306030303" pitchFamily="18" charset="0"/>
              </a:rPr>
              <a:t>affect livelihoods and access to critical health and social facilities.</a:t>
            </a:r>
            <a:endParaRPr lang="en-IN" sz="2400" dirty="0">
              <a:latin typeface="Constantia" panose="02030602050306030303" pitchFamily="18" charset="0"/>
            </a:endParaRPr>
          </a:p>
        </p:txBody>
      </p:sp>
      <p:sp>
        <p:nvSpPr>
          <p:cNvPr id="18" name="TextBox 17"/>
          <p:cNvSpPr txBox="1"/>
          <p:nvPr/>
        </p:nvSpPr>
        <p:spPr>
          <a:xfrm>
            <a:off x="304788" y="870406"/>
            <a:ext cx="5762640" cy="2677656"/>
          </a:xfrm>
          <a:prstGeom prst="rect">
            <a:avLst/>
          </a:prstGeom>
          <a:noFill/>
        </p:spPr>
        <p:txBody>
          <a:bodyPr wrap="square" rtlCol="0">
            <a:spAutoFit/>
          </a:bodyPr>
          <a:lstStyle/>
          <a:p>
            <a:r>
              <a:rPr lang="en-US" sz="2400" dirty="0">
                <a:latin typeface="Constantia" panose="02030602050306030303" pitchFamily="18" charset="0"/>
              </a:rPr>
              <a:t>T</a:t>
            </a:r>
            <a:r>
              <a:rPr lang="en-US" sz="2400" dirty="0" smtClean="0">
                <a:latin typeface="Constantia" panose="02030602050306030303" pitchFamily="18" charset="0"/>
              </a:rPr>
              <a:t>he </a:t>
            </a:r>
            <a:r>
              <a:rPr lang="en-US" sz="2400" dirty="0">
                <a:latin typeface="Constantia" panose="02030602050306030303" pitchFamily="18" charset="0"/>
              </a:rPr>
              <a:t>occurrence </a:t>
            </a:r>
            <a:r>
              <a:rPr lang="en-US" sz="2400" dirty="0" smtClean="0">
                <a:latin typeface="Constantia" panose="02030602050306030303" pitchFamily="18" charset="0"/>
              </a:rPr>
              <a:t>of floods </a:t>
            </a:r>
            <a:r>
              <a:rPr lang="en-US" sz="2400" dirty="0">
                <a:latin typeface="Constantia" panose="02030602050306030303" pitchFamily="18" charset="0"/>
              </a:rPr>
              <a:t>in 2017 </a:t>
            </a:r>
            <a:r>
              <a:rPr lang="en-US" sz="2400" dirty="0" smtClean="0">
                <a:latin typeface="Constantia" panose="02030602050306030303" pitchFamily="18" charset="0"/>
              </a:rPr>
              <a:t>caused </a:t>
            </a:r>
            <a:r>
              <a:rPr lang="en-US" sz="2400" dirty="0">
                <a:latin typeface="Constantia" panose="02030602050306030303" pitchFamily="18" charset="0"/>
              </a:rPr>
              <a:t>80% of the southern agricultural belt to submerge in water causing a loss of about </a:t>
            </a:r>
            <a:r>
              <a:rPr lang="en-US" sz="2400" dirty="0" smtClean="0">
                <a:latin typeface="Constantia" panose="02030602050306030303" pitchFamily="18" charset="0"/>
              </a:rPr>
              <a:t>$57 million </a:t>
            </a:r>
            <a:r>
              <a:rPr lang="en-US" sz="2400" dirty="0">
                <a:latin typeface="Constantia" panose="02030602050306030303" pitchFamily="18" charset="0"/>
              </a:rPr>
              <a:t>of agricultural crops and also claimed hundreds of lives</a:t>
            </a:r>
            <a:r>
              <a:rPr lang="en-US" sz="2400" dirty="0" smtClean="0">
                <a:latin typeface="Constantia" panose="02030602050306030303" pitchFamily="18" charset="0"/>
              </a:rPr>
              <a:t>. It show the under-preparedness of the country to fight against climate change</a:t>
            </a:r>
            <a:endParaRPr lang="en-IN" sz="2400" dirty="0">
              <a:latin typeface="Constantia" panose="02030602050306030303" pitchFamily="18" charset="0"/>
            </a:endParaRPr>
          </a:p>
        </p:txBody>
      </p:sp>
    </p:spTree>
    <p:extLst>
      <p:ext uri="{BB962C8B-B14F-4D97-AF65-F5344CB8AC3E}">
        <p14:creationId xmlns:p14="http://schemas.microsoft.com/office/powerpoint/2010/main" val="268807924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advTm="38000">
        <p15:prstTrans prst="fracture"/>
      </p:transition>
    </mc:Choice>
    <mc:Fallback>
      <p:transition spd="slow" advTm="38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2)">
                                      <p:cBhvr>
                                        <p:cTn id="7" dur="3000"/>
                                        <p:tgtEl>
                                          <p:spTgt spid="4"/>
                                        </p:tgtEl>
                                      </p:cBhvr>
                                    </p:animEffect>
                                  </p:childTnLst>
                                </p:cTn>
                              </p:par>
                            </p:childTnLst>
                          </p:cTn>
                        </p:par>
                        <p:par>
                          <p:cTn id="8" fill="hold">
                            <p:stCondLst>
                              <p:cond delay="3000"/>
                            </p:stCondLst>
                            <p:childTnLst>
                              <p:par>
                                <p:cTn id="9" presetID="26" presetClass="entr" presetSubtype="0" fill="hold" grpId="0" nodeType="afterEffect">
                                  <p:stCondLst>
                                    <p:cond delay="100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580">
                                          <p:stCondLst>
                                            <p:cond delay="0"/>
                                          </p:stCondLst>
                                        </p:cTn>
                                        <p:tgtEl>
                                          <p:spTgt spid="13"/>
                                        </p:tgtEl>
                                      </p:cBhvr>
                                    </p:animEffect>
                                    <p:anim calcmode="lin" valueType="num">
                                      <p:cBhvr>
                                        <p:cTn id="12"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17" dur="26">
                                          <p:stCondLst>
                                            <p:cond delay="650"/>
                                          </p:stCondLst>
                                        </p:cTn>
                                        <p:tgtEl>
                                          <p:spTgt spid="13"/>
                                        </p:tgtEl>
                                      </p:cBhvr>
                                      <p:to x="100000" y="60000"/>
                                    </p:animScale>
                                    <p:animScale>
                                      <p:cBhvr>
                                        <p:cTn id="18" dur="166" decel="50000">
                                          <p:stCondLst>
                                            <p:cond delay="676"/>
                                          </p:stCondLst>
                                        </p:cTn>
                                        <p:tgtEl>
                                          <p:spTgt spid="13"/>
                                        </p:tgtEl>
                                      </p:cBhvr>
                                      <p:to x="100000" y="100000"/>
                                    </p:animScale>
                                    <p:animScale>
                                      <p:cBhvr>
                                        <p:cTn id="19" dur="26">
                                          <p:stCondLst>
                                            <p:cond delay="1312"/>
                                          </p:stCondLst>
                                        </p:cTn>
                                        <p:tgtEl>
                                          <p:spTgt spid="13"/>
                                        </p:tgtEl>
                                      </p:cBhvr>
                                      <p:to x="100000" y="80000"/>
                                    </p:animScale>
                                    <p:animScale>
                                      <p:cBhvr>
                                        <p:cTn id="20" dur="166" decel="50000">
                                          <p:stCondLst>
                                            <p:cond delay="1338"/>
                                          </p:stCondLst>
                                        </p:cTn>
                                        <p:tgtEl>
                                          <p:spTgt spid="13"/>
                                        </p:tgtEl>
                                      </p:cBhvr>
                                      <p:to x="100000" y="100000"/>
                                    </p:animScale>
                                    <p:animScale>
                                      <p:cBhvr>
                                        <p:cTn id="21" dur="26">
                                          <p:stCondLst>
                                            <p:cond delay="1642"/>
                                          </p:stCondLst>
                                        </p:cTn>
                                        <p:tgtEl>
                                          <p:spTgt spid="13"/>
                                        </p:tgtEl>
                                      </p:cBhvr>
                                      <p:to x="100000" y="90000"/>
                                    </p:animScale>
                                    <p:animScale>
                                      <p:cBhvr>
                                        <p:cTn id="22" dur="166" decel="50000">
                                          <p:stCondLst>
                                            <p:cond delay="1668"/>
                                          </p:stCondLst>
                                        </p:cTn>
                                        <p:tgtEl>
                                          <p:spTgt spid="13"/>
                                        </p:tgtEl>
                                      </p:cBhvr>
                                      <p:to x="100000" y="100000"/>
                                    </p:animScale>
                                    <p:animScale>
                                      <p:cBhvr>
                                        <p:cTn id="23" dur="26">
                                          <p:stCondLst>
                                            <p:cond delay="1808"/>
                                          </p:stCondLst>
                                        </p:cTn>
                                        <p:tgtEl>
                                          <p:spTgt spid="13"/>
                                        </p:tgtEl>
                                      </p:cBhvr>
                                      <p:to x="100000" y="95000"/>
                                    </p:animScale>
                                    <p:animScale>
                                      <p:cBhvr>
                                        <p:cTn id="24" dur="166" decel="50000">
                                          <p:stCondLst>
                                            <p:cond delay="1834"/>
                                          </p:stCondLst>
                                        </p:cTn>
                                        <p:tgtEl>
                                          <p:spTgt spid="13"/>
                                        </p:tgtEl>
                                      </p:cBhvr>
                                      <p:to x="100000" y="100000"/>
                                    </p:animScale>
                                  </p:childTnLst>
                                </p:cTn>
                              </p:par>
                            </p:childTnLst>
                          </p:cTn>
                        </p:par>
                        <p:par>
                          <p:cTn id="25" fill="hold">
                            <p:stCondLst>
                              <p:cond delay="6000"/>
                            </p:stCondLst>
                            <p:childTnLst>
                              <p:par>
                                <p:cTn id="26" presetID="26" presetClass="entr" presetSubtype="0" fill="hold" grpId="0" nodeType="afterEffect">
                                  <p:stCondLst>
                                    <p:cond delay="6000"/>
                                  </p:stCondLst>
                                  <p:childTnLst>
                                    <p:set>
                                      <p:cBhvr>
                                        <p:cTn id="27" dur="1" fill="hold">
                                          <p:stCondLst>
                                            <p:cond delay="0"/>
                                          </p:stCondLst>
                                        </p:cTn>
                                        <p:tgtEl>
                                          <p:spTgt spid="17"/>
                                        </p:tgtEl>
                                        <p:attrNameLst>
                                          <p:attrName>style.visibility</p:attrName>
                                        </p:attrNameLst>
                                      </p:cBhvr>
                                      <p:to>
                                        <p:strVal val="visible"/>
                                      </p:to>
                                    </p:set>
                                    <p:animEffect transition="in" filter="wipe(down)">
                                      <p:cBhvr>
                                        <p:cTn id="28" dur="580">
                                          <p:stCondLst>
                                            <p:cond delay="0"/>
                                          </p:stCondLst>
                                        </p:cTn>
                                        <p:tgtEl>
                                          <p:spTgt spid="17"/>
                                        </p:tgtEl>
                                      </p:cBhvr>
                                    </p:animEffect>
                                    <p:anim calcmode="lin" valueType="num">
                                      <p:cBhvr>
                                        <p:cTn id="29"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30"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31"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32"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33"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34" dur="26">
                                          <p:stCondLst>
                                            <p:cond delay="650"/>
                                          </p:stCondLst>
                                        </p:cTn>
                                        <p:tgtEl>
                                          <p:spTgt spid="17"/>
                                        </p:tgtEl>
                                      </p:cBhvr>
                                      <p:to x="100000" y="60000"/>
                                    </p:animScale>
                                    <p:animScale>
                                      <p:cBhvr>
                                        <p:cTn id="35" dur="166" decel="50000">
                                          <p:stCondLst>
                                            <p:cond delay="676"/>
                                          </p:stCondLst>
                                        </p:cTn>
                                        <p:tgtEl>
                                          <p:spTgt spid="17"/>
                                        </p:tgtEl>
                                      </p:cBhvr>
                                      <p:to x="100000" y="100000"/>
                                    </p:animScale>
                                    <p:animScale>
                                      <p:cBhvr>
                                        <p:cTn id="36" dur="26">
                                          <p:stCondLst>
                                            <p:cond delay="1312"/>
                                          </p:stCondLst>
                                        </p:cTn>
                                        <p:tgtEl>
                                          <p:spTgt spid="17"/>
                                        </p:tgtEl>
                                      </p:cBhvr>
                                      <p:to x="100000" y="80000"/>
                                    </p:animScale>
                                    <p:animScale>
                                      <p:cBhvr>
                                        <p:cTn id="37" dur="166" decel="50000">
                                          <p:stCondLst>
                                            <p:cond delay="1338"/>
                                          </p:stCondLst>
                                        </p:cTn>
                                        <p:tgtEl>
                                          <p:spTgt spid="17"/>
                                        </p:tgtEl>
                                      </p:cBhvr>
                                      <p:to x="100000" y="100000"/>
                                    </p:animScale>
                                    <p:animScale>
                                      <p:cBhvr>
                                        <p:cTn id="38" dur="26">
                                          <p:stCondLst>
                                            <p:cond delay="1642"/>
                                          </p:stCondLst>
                                        </p:cTn>
                                        <p:tgtEl>
                                          <p:spTgt spid="17"/>
                                        </p:tgtEl>
                                      </p:cBhvr>
                                      <p:to x="100000" y="90000"/>
                                    </p:animScale>
                                    <p:animScale>
                                      <p:cBhvr>
                                        <p:cTn id="39" dur="166" decel="50000">
                                          <p:stCondLst>
                                            <p:cond delay="1668"/>
                                          </p:stCondLst>
                                        </p:cTn>
                                        <p:tgtEl>
                                          <p:spTgt spid="17"/>
                                        </p:tgtEl>
                                      </p:cBhvr>
                                      <p:to x="100000" y="100000"/>
                                    </p:animScale>
                                    <p:animScale>
                                      <p:cBhvr>
                                        <p:cTn id="40" dur="26">
                                          <p:stCondLst>
                                            <p:cond delay="1808"/>
                                          </p:stCondLst>
                                        </p:cTn>
                                        <p:tgtEl>
                                          <p:spTgt spid="17"/>
                                        </p:tgtEl>
                                      </p:cBhvr>
                                      <p:to x="100000" y="95000"/>
                                    </p:animScale>
                                    <p:animScale>
                                      <p:cBhvr>
                                        <p:cTn id="41" dur="166" decel="50000">
                                          <p:stCondLst>
                                            <p:cond delay="1834"/>
                                          </p:stCondLst>
                                        </p:cTn>
                                        <p:tgtEl>
                                          <p:spTgt spid="17"/>
                                        </p:tgtEl>
                                      </p:cBhvr>
                                      <p:to x="100000" y="100000"/>
                                    </p:animScale>
                                  </p:childTnLst>
                                </p:cTn>
                              </p:par>
                              <p:par>
                                <p:cTn id="42" presetID="45" presetClass="entr" presetSubtype="0" fill="hold" nodeType="withEffect">
                                  <p:stCondLst>
                                    <p:cond delay="800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2000"/>
                                        <p:tgtEl>
                                          <p:spTgt spid="15"/>
                                        </p:tgtEl>
                                      </p:cBhvr>
                                    </p:animEffect>
                                    <p:anim calcmode="lin" valueType="num">
                                      <p:cBhvr>
                                        <p:cTn id="45" dur="2000" fill="hold"/>
                                        <p:tgtEl>
                                          <p:spTgt spid="15"/>
                                        </p:tgtEl>
                                        <p:attrNameLst>
                                          <p:attrName>ppt_w</p:attrName>
                                        </p:attrNameLst>
                                      </p:cBhvr>
                                      <p:tavLst>
                                        <p:tav tm="0" fmla="#ppt_w*sin(2.5*pi*$)">
                                          <p:val>
                                            <p:fltVal val="0"/>
                                          </p:val>
                                        </p:tav>
                                        <p:tav tm="100000">
                                          <p:val>
                                            <p:fltVal val="1"/>
                                          </p:val>
                                        </p:tav>
                                      </p:tavLst>
                                    </p:anim>
                                    <p:anim calcmode="lin" valueType="num">
                                      <p:cBhvr>
                                        <p:cTn id="46" dur="2000" fill="hold"/>
                                        <p:tgtEl>
                                          <p:spTgt spid="15"/>
                                        </p:tgtEl>
                                        <p:attrNameLst>
                                          <p:attrName>ppt_h</p:attrName>
                                        </p:attrNameLst>
                                      </p:cBhvr>
                                      <p:tavLst>
                                        <p:tav tm="0">
                                          <p:val>
                                            <p:strVal val="#ppt_h"/>
                                          </p:val>
                                        </p:tav>
                                        <p:tav tm="100000">
                                          <p:val>
                                            <p:strVal val="#ppt_h"/>
                                          </p:val>
                                        </p:tav>
                                      </p:tavLst>
                                    </p:anim>
                                  </p:childTnLst>
                                </p:cTn>
                              </p:par>
                              <p:par>
                                <p:cTn id="47" presetID="45" presetClass="entr" presetSubtype="0" fill="hold" nodeType="withEffect">
                                  <p:stCondLst>
                                    <p:cond delay="80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2000"/>
                                        <p:tgtEl>
                                          <p:spTgt spid="16"/>
                                        </p:tgtEl>
                                      </p:cBhvr>
                                    </p:animEffect>
                                    <p:anim calcmode="lin" valueType="num">
                                      <p:cBhvr>
                                        <p:cTn id="50" dur="2000" fill="hold"/>
                                        <p:tgtEl>
                                          <p:spTgt spid="16"/>
                                        </p:tgtEl>
                                        <p:attrNameLst>
                                          <p:attrName>ppt_w</p:attrName>
                                        </p:attrNameLst>
                                      </p:cBhvr>
                                      <p:tavLst>
                                        <p:tav tm="0" fmla="#ppt_w*sin(2.5*pi*$)">
                                          <p:val>
                                            <p:fltVal val="0"/>
                                          </p:val>
                                        </p:tav>
                                        <p:tav tm="100000">
                                          <p:val>
                                            <p:fltVal val="1"/>
                                          </p:val>
                                        </p:tav>
                                      </p:tavLst>
                                    </p:anim>
                                    <p:anim calcmode="lin" valueType="num">
                                      <p:cBhvr>
                                        <p:cTn id="51" dur="2000" fill="hold"/>
                                        <p:tgtEl>
                                          <p:spTgt spid="16"/>
                                        </p:tgtEl>
                                        <p:attrNameLst>
                                          <p:attrName>ppt_h</p:attrName>
                                        </p:attrNameLst>
                                      </p:cBhvr>
                                      <p:tavLst>
                                        <p:tav tm="0">
                                          <p:val>
                                            <p:strVal val="#ppt_h"/>
                                          </p:val>
                                        </p:tav>
                                        <p:tav tm="100000">
                                          <p:val>
                                            <p:strVal val="#ppt_h"/>
                                          </p:val>
                                        </p:tav>
                                      </p:tavLst>
                                    </p:anim>
                                  </p:childTnLst>
                                </p:cTn>
                              </p:par>
                            </p:childTnLst>
                          </p:cTn>
                        </p:par>
                        <p:par>
                          <p:cTn id="52" fill="hold">
                            <p:stCondLst>
                              <p:cond delay="16000"/>
                            </p:stCondLst>
                            <p:childTnLst>
                              <p:par>
                                <p:cTn id="53" presetID="31" presetClass="exit" presetSubtype="0" fill="hold" grpId="1" nodeType="afterEffect">
                                  <p:stCondLst>
                                    <p:cond delay="6000"/>
                                  </p:stCondLst>
                                  <p:childTnLst>
                                    <p:anim calcmode="lin" valueType="num">
                                      <p:cBhvr>
                                        <p:cTn id="54" dur="2000"/>
                                        <p:tgtEl>
                                          <p:spTgt spid="13"/>
                                        </p:tgtEl>
                                        <p:attrNameLst>
                                          <p:attrName>ppt_w</p:attrName>
                                        </p:attrNameLst>
                                      </p:cBhvr>
                                      <p:tavLst>
                                        <p:tav tm="0">
                                          <p:val>
                                            <p:strVal val="ppt_w"/>
                                          </p:val>
                                        </p:tav>
                                        <p:tav tm="100000">
                                          <p:val>
                                            <p:fltVal val="0"/>
                                          </p:val>
                                        </p:tav>
                                      </p:tavLst>
                                    </p:anim>
                                    <p:anim calcmode="lin" valueType="num">
                                      <p:cBhvr>
                                        <p:cTn id="55" dur="2000"/>
                                        <p:tgtEl>
                                          <p:spTgt spid="13"/>
                                        </p:tgtEl>
                                        <p:attrNameLst>
                                          <p:attrName>ppt_h</p:attrName>
                                        </p:attrNameLst>
                                      </p:cBhvr>
                                      <p:tavLst>
                                        <p:tav tm="0">
                                          <p:val>
                                            <p:strVal val="ppt_h"/>
                                          </p:val>
                                        </p:tav>
                                        <p:tav tm="100000">
                                          <p:val>
                                            <p:fltVal val="0"/>
                                          </p:val>
                                        </p:tav>
                                      </p:tavLst>
                                    </p:anim>
                                    <p:anim calcmode="lin" valueType="num">
                                      <p:cBhvr>
                                        <p:cTn id="56" dur="2000"/>
                                        <p:tgtEl>
                                          <p:spTgt spid="13"/>
                                        </p:tgtEl>
                                        <p:attrNameLst>
                                          <p:attrName>style.rotation</p:attrName>
                                        </p:attrNameLst>
                                      </p:cBhvr>
                                      <p:tavLst>
                                        <p:tav tm="0">
                                          <p:val>
                                            <p:fltVal val="0"/>
                                          </p:val>
                                        </p:tav>
                                        <p:tav tm="100000">
                                          <p:val>
                                            <p:fltVal val="90"/>
                                          </p:val>
                                        </p:tav>
                                      </p:tavLst>
                                    </p:anim>
                                    <p:animEffect transition="out" filter="fade">
                                      <p:cBhvr>
                                        <p:cTn id="57" dur="2000"/>
                                        <p:tgtEl>
                                          <p:spTgt spid="13"/>
                                        </p:tgtEl>
                                      </p:cBhvr>
                                    </p:animEffect>
                                    <p:set>
                                      <p:cBhvr>
                                        <p:cTn id="58" dur="1" fill="hold">
                                          <p:stCondLst>
                                            <p:cond delay="1999"/>
                                          </p:stCondLst>
                                        </p:cTn>
                                        <p:tgtEl>
                                          <p:spTgt spid="13"/>
                                        </p:tgtEl>
                                        <p:attrNameLst>
                                          <p:attrName>style.visibility</p:attrName>
                                        </p:attrNameLst>
                                      </p:cBhvr>
                                      <p:to>
                                        <p:strVal val="hidden"/>
                                      </p:to>
                                    </p:set>
                                  </p:childTnLst>
                                </p:cTn>
                              </p:par>
                              <p:par>
                                <p:cTn id="59" presetID="31" presetClass="entr" presetSubtype="0" fill="hold" grpId="0" nodeType="withEffect">
                                  <p:stCondLst>
                                    <p:cond delay="6000"/>
                                  </p:stCondLst>
                                  <p:childTnLst>
                                    <p:set>
                                      <p:cBhvr>
                                        <p:cTn id="60" dur="1" fill="hold">
                                          <p:stCondLst>
                                            <p:cond delay="0"/>
                                          </p:stCondLst>
                                        </p:cTn>
                                        <p:tgtEl>
                                          <p:spTgt spid="18"/>
                                        </p:tgtEl>
                                        <p:attrNameLst>
                                          <p:attrName>style.visibility</p:attrName>
                                        </p:attrNameLst>
                                      </p:cBhvr>
                                      <p:to>
                                        <p:strVal val="visible"/>
                                      </p:to>
                                    </p:set>
                                    <p:anim calcmode="lin" valueType="num">
                                      <p:cBhvr>
                                        <p:cTn id="61" dur="2000" fill="hold"/>
                                        <p:tgtEl>
                                          <p:spTgt spid="18"/>
                                        </p:tgtEl>
                                        <p:attrNameLst>
                                          <p:attrName>ppt_w</p:attrName>
                                        </p:attrNameLst>
                                      </p:cBhvr>
                                      <p:tavLst>
                                        <p:tav tm="0">
                                          <p:val>
                                            <p:fltVal val="0"/>
                                          </p:val>
                                        </p:tav>
                                        <p:tav tm="100000">
                                          <p:val>
                                            <p:strVal val="#ppt_w"/>
                                          </p:val>
                                        </p:tav>
                                      </p:tavLst>
                                    </p:anim>
                                    <p:anim calcmode="lin" valueType="num">
                                      <p:cBhvr>
                                        <p:cTn id="62" dur="2000" fill="hold"/>
                                        <p:tgtEl>
                                          <p:spTgt spid="18"/>
                                        </p:tgtEl>
                                        <p:attrNameLst>
                                          <p:attrName>ppt_h</p:attrName>
                                        </p:attrNameLst>
                                      </p:cBhvr>
                                      <p:tavLst>
                                        <p:tav tm="0">
                                          <p:val>
                                            <p:fltVal val="0"/>
                                          </p:val>
                                        </p:tav>
                                        <p:tav tm="100000">
                                          <p:val>
                                            <p:strVal val="#ppt_h"/>
                                          </p:val>
                                        </p:tav>
                                      </p:tavLst>
                                    </p:anim>
                                    <p:anim calcmode="lin" valueType="num">
                                      <p:cBhvr>
                                        <p:cTn id="63" dur="2000" fill="hold"/>
                                        <p:tgtEl>
                                          <p:spTgt spid="18"/>
                                        </p:tgtEl>
                                        <p:attrNameLst>
                                          <p:attrName>style.rotation</p:attrName>
                                        </p:attrNameLst>
                                      </p:cBhvr>
                                      <p:tavLst>
                                        <p:tav tm="0">
                                          <p:val>
                                            <p:fltVal val="90"/>
                                          </p:val>
                                        </p:tav>
                                        <p:tav tm="100000">
                                          <p:val>
                                            <p:fltVal val="0"/>
                                          </p:val>
                                        </p:tav>
                                      </p:tavLst>
                                    </p:anim>
                                    <p:animEffect transition="in" filter="fade">
                                      <p:cBhvr>
                                        <p:cTn id="64" dur="2000"/>
                                        <p:tgtEl>
                                          <p:spTgt spid="18"/>
                                        </p:tgtEl>
                                      </p:cBhvr>
                                    </p:animEffect>
                                  </p:childTnLst>
                                </p:cTn>
                              </p:par>
                            </p:childTnLst>
                          </p:cTn>
                        </p:par>
                        <p:par>
                          <p:cTn id="65" fill="hold">
                            <p:stCondLst>
                              <p:cond delay="24000"/>
                            </p:stCondLst>
                            <p:childTnLst>
                              <p:par>
                                <p:cTn id="66" presetID="31" presetClass="exit" presetSubtype="0" fill="hold" grpId="1" nodeType="afterEffect">
                                  <p:stCondLst>
                                    <p:cond delay="6000"/>
                                  </p:stCondLst>
                                  <p:childTnLst>
                                    <p:anim calcmode="lin" valueType="num">
                                      <p:cBhvr>
                                        <p:cTn id="67" dur="2000"/>
                                        <p:tgtEl>
                                          <p:spTgt spid="17"/>
                                        </p:tgtEl>
                                        <p:attrNameLst>
                                          <p:attrName>ppt_w</p:attrName>
                                        </p:attrNameLst>
                                      </p:cBhvr>
                                      <p:tavLst>
                                        <p:tav tm="0">
                                          <p:val>
                                            <p:strVal val="ppt_w"/>
                                          </p:val>
                                        </p:tav>
                                        <p:tav tm="100000">
                                          <p:val>
                                            <p:fltVal val="0"/>
                                          </p:val>
                                        </p:tav>
                                      </p:tavLst>
                                    </p:anim>
                                    <p:anim calcmode="lin" valueType="num">
                                      <p:cBhvr>
                                        <p:cTn id="68" dur="2000"/>
                                        <p:tgtEl>
                                          <p:spTgt spid="17"/>
                                        </p:tgtEl>
                                        <p:attrNameLst>
                                          <p:attrName>ppt_h</p:attrName>
                                        </p:attrNameLst>
                                      </p:cBhvr>
                                      <p:tavLst>
                                        <p:tav tm="0">
                                          <p:val>
                                            <p:strVal val="ppt_h"/>
                                          </p:val>
                                        </p:tav>
                                        <p:tav tm="100000">
                                          <p:val>
                                            <p:fltVal val="0"/>
                                          </p:val>
                                        </p:tav>
                                      </p:tavLst>
                                    </p:anim>
                                    <p:anim calcmode="lin" valueType="num">
                                      <p:cBhvr>
                                        <p:cTn id="69" dur="2000"/>
                                        <p:tgtEl>
                                          <p:spTgt spid="17"/>
                                        </p:tgtEl>
                                        <p:attrNameLst>
                                          <p:attrName>style.rotation</p:attrName>
                                        </p:attrNameLst>
                                      </p:cBhvr>
                                      <p:tavLst>
                                        <p:tav tm="0">
                                          <p:val>
                                            <p:fltVal val="0"/>
                                          </p:val>
                                        </p:tav>
                                        <p:tav tm="100000">
                                          <p:val>
                                            <p:fltVal val="90"/>
                                          </p:val>
                                        </p:tav>
                                      </p:tavLst>
                                    </p:anim>
                                    <p:animEffect transition="out" filter="fade">
                                      <p:cBhvr>
                                        <p:cTn id="70" dur="2000"/>
                                        <p:tgtEl>
                                          <p:spTgt spid="17"/>
                                        </p:tgtEl>
                                      </p:cBhvr>
                                    </p:animEffect>
                                    <p:set>
                                      <p:cBhvr>
                                        <p:cTn id="71" dur="1" fill="hold">
                                          <p:stCondLst>
                                            <p:cond delay="1999"/>
                                          </p:stCondLst>
                                        </p:cTn>
                                        <p:tgtEl>
                                          <p:spTgt spid="17"/>
                                        </p:tgtEl>
                                        <p:attrNameLst>
                                          <p:attrName>style.visibility</p:attrName>
                                        </p:attrNameLst>
                                      </p:cBhvr>
                                      <p:to>
                                        <p:strVal val="hidden"/>
                                      </p:to>
                                    </p:set>
                                  </p:childTnLst>
                                </p:cTn>
                              </p:par>
                              <p:par>
                                <p:cTn id="72" presetID="31" presetClass="entr" presetSubtype="0" fill="hold" grpId="0" nodeType="withEffect">
                                  <p:stCondLst>
                                    <p:cond delay="6000"/>
                                  </p:stCondLst>
                                  <p:childTnLst>
                                    <p:set>
                                      <p:cBhvr>
                                        <p:cTn id="73" dur="1" fill="hold">
                                          <p:stCondLst>
                                            <p:cond delay="0"/>
                                          </p:stCondLst>
                                        </p:cTn>
                                        <p:tgtEl>
                                          <p:spTgt spid="14"/>
                                        </p:tgtEl>
                                        <p:attrNameLst>
                                          <p:attrName>style.visibility</p:attrName>
                                        </p:attrNameLst>
                                      </p:cBhvr>
                                      <p:to>
                                        <p:strVal val="visible"/>
                                      </p:to>
                                    </p:set>
                                    <p:anim calcmode="lin" valueType="num">
                                      <p:cBhvr>
                                        <p:cTn id="74" dur="2000" fill="hold"/>
                                        <p:tgtEl>
                                          <p:spTgt spid="14"/>
                                        </p:tgtEl>
                                        <p:attrNameLst>
                                          <p:attrName>ppt_w</p:attrName>
                                        </p:attrNameLst>
                                      </p:cBhvr>
                                      <p:tavLst>
                                        <p:tav tm="0">
                                          <p:val>
                                            <p:fltVal val="0"/>
                                          </p:val>
                                        </p:tav>
                                        <p:tav tm="100000">
                                          <p:val>
                                            <p:strVal val="#ppt_w"/>
                                          </p:val>
                                        </p:tav>
                                      </p:tavLst>
                                    </p:anim>
                                    <p:anim calcmode="lin" valueType="num">
                                      <p:cBhvr>
                                        <p:cTn id="75" dur="2000" fill="hold"/>
                                        <p:tgtEl>
                                          <p:spTgt spid="14"/>
                                        </p:tgtEl>
                                        <p:attrNameLst>
                                          <p:attrName>ppt_h</p:attrName>
                                        </p:attrNameLst>
                                      </p:cBhvr>
                                      <p:tavLst>
                                        <p:tav tm="0">
                                          <p:val>
                                            <p:fltVal val="0"/>
                                          </p:val>
                                        </p:tav>
                                        <p:tav tm="100000">
                                          <p:val>
                                            <p:strVal val="#ppt_h"/>
                                          </p:val>
                                        </p:tav>
                                      </p:tavLst>
                                    </p:anim>
                                    <p:anim calcmode="lin" valueType="num">
                                      <p:cBhvr>
                                        <p:cTn id="76" dur="2000" fill="hold"/>
                                        <p:tgtEl>
                                          <p:spTgt spid="14"/>
                                        </p:tgtEl>
                                        <p:attrNameLst>
                                          <p:attrName>style.rotation</p:attrName>
                                        </p:attrNameLst>
                                      </p:cBhvr>
                                      <p:tavLst>
                                        <p:tav tm="0">
                                          <p:val>
                                            <p:fltVal val="90"/>
                                          </p:val>
                                        </p:tav>
                                        <p:tav tm="100000">
                                          <p:val>
                                            <p:fltVal val="0"/>
                                          </p:val>
                                        </p:tav>
                                      </p:tavLst>
                                    </p:anim>
                                    <p:animEffect transition="in" filter="fade">
                                      <p:cBhvr>
                                        <p:cTn id="77"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13" grpId="1"/>
      <p:bldP spid="14" grpId="0"/>
      <p:bldP spid="17" grpId="0"/>
      <p:bldP spid="17" grpId="1"/>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700084" cy="1138989"/>
          </a:xfrm>
        </p:spPr>
        <p:txBody>
          <a:bodyPr/>
          <a:lstStyle/>
          <a:p>
            <a:r>
              <a:rPr lang="en-IN" sz="5600" b="1" u="sng" dirty="0" smtClean="0">
                <a:solidFill>
                  <a:srgbClr val="00B050"/>
                </a:solidFill>
                <a:effectLst>
                  <a:glow rad="533400">
                    <a:srgbClr val="7030A0">
                      <a:alpha val="36000"/>
                    </a:srgbClr>
                  </a:glow>
                </a:effectLst>
                <a:latin typeface="Imprint MT Shadow" panose="04020605060303030202" pitchFamily="82" charset="0"/>
              </a:rPr>
              <a:t>Measures against Hunger in India</a:t>
            </a:r>
            <a:endParaRPr lang="en-IN" sz="5600" b="1" u="sng" dirty="0">
              <a:solidFill>
                <a:srgbClr val="00B050"/>
              </a:solidFill>
              <a:effectLst>
                <a:glow rad="533400">
                  <a:srgbClr val="7030A0">
                    <a:alpha val="36000"/>
                  </a:srgbClr>
                </a:glow>
              </a:effectLst>
              <a:latin typeface="Imprint MT Shadow" panose="04020605060303030202" pitchFamily="82" charset="0"/>
            </a:endParaRPr>
          </a:p>
        </p:txBody>
      </p:sp>
      <p:sp>
        <p:nvSpPr>
          <p:cNvPr id="3" name="Content Placeholder 2"/>
          <p:cNvSpPr>
            <a:spLocks noGrp="1"/>
          </p:cNvSpPr>
          <p:nvPr>
            <p:ph idx="1"/>
          </p:nvPr>
        </p:nvSpPr>
        <p:spPr>
          <a:xfrm>
            <a:off x="172870" y="1459361"/>
            <a:ext cx="4816225" cy="2246366"/>
          </a:xfrm>
        </p:spPr>
        <p:txBody>
          <a:bodyPr>
            <a:normAutofit fontScale="92500"/>
          </a:bodyPr>
          <a:lstStyle/>
          <a:p>
            <a:pPr marL="0" indent="0">
              <a:buNone/>
            </a:pPr>
            <a:r>
              <a:rPr lang="en-US" dirty="0"/>
              <a:t>There are a series of organizations and nonprofits who have focused their efforts on India’s most solvable issue. For instance, Action Against Hunger has been instrumental in saving lives in India in the past decade by taking a hands-on, direct approach.</a:t>
            </a:r>
            <a:endParaRPr lang="en-IN" dirty="0"/>
          </a:p>
        </p:txBody>
      </p:sp>
      <p:sp>
        <p:nvSpPr>
          <p:cNvPr id="5" name="TextBox 4"/>
          <p:cNvSpPr txBox="1"/>
          <p:nvPr/>
        </p:nvSpPr>
        <p:spPr>
          <a:xfrm>
            <a:off x="5550569" y="4203032"/>
            <a:ext cx="5534526" cy="2031325"/>
          </a:xfrm>
          <a:prstGeom prst="rect">
            <a:avLst/>
          </a:prstGeom>
          <a:noFill/>
        </p:spPr>
        <p:txBody>
          <a:bodyPr wrap="square" rtlCol="0">
            <a:spAutoFit/>
          </a:bodyPr>
          <a:lstStyle/>
          <a:p>
            <a:r>
              <a:rPr lang="en-US" dirty="0"/>
              <a:t>In order to provide the Right to food to every citizen of the country, the Parliament of India, enacted a legislation in 2013 known as the National Food Security Act, 2013</a:t>
            </a:r>
            <a:r>
              <a:rPr lang="en-US" dirty="0" smtClean="0"/>
              <a:t>. This </a:t>
            </a:r>
            <a:r>
              <a:rPr lang="en-US" dirty="0"/>
              <a:t>Act seeks to provide subsidized food grains to approximately two thirds of India's 1.33 billion </a:t>
            </a:r>
            <a:r>
              <a:rPr lang="en-US" dirty="0" smtClean="0"/>
              <a:t>population.</a:t>
            </a:r>
            <a:endParaRPr lang="en-IN" dirty="0"/>
          </a:p>
        </p:txBody>
      </p:sp>
      <p:sp>
        <p:nvSpPr>
          <p:cNvPr id="6" name="TextBox 5"/>
          <p:cNvSpPr txBox="1"/>
          <p:nvPr/>
        </p:nvSpPr>
        <p:spPr>
          <a:xfrm>
            <a:off x="304800" y="1490173"/>
            <a:ext cx="4684295" cy="2585323"/>
          </a:xfrm>
          <a:prstGeom prst="rect">
            <a:avLst/>
          </a:prstGeom>
          <a:noFill/>
        </p:spPr>
        <p:txBody>
          <a:bodyPr wrap="square" rtlCol="0">
            <a:spAutoFit/>
          </a:bodyPr>
          <a:lstStyle/>
          <a:p>
            <a:r>
              <a:rPr lang="en-US" dirty="0"/>
              <a:t>It includes the Midday Meal Scheme, Integrated Child Development Services scheme and the Public Distribution System. In 2017-18, over </a:t>
            </a:r>
            <a:r>
              <a:rPr lang="en-US" dirty="0" err="1"/>
              <a:t>Rs</a:t>
            </a:r>
            <a:r>
              <a:rPr lang="en-US" dirty="0"/>
              <a:t> 1500 billion (7.6% of the government's total expenditure) have been allocated to provide food subsidies under the Targeted Public Distribution System (TPDS).</a:t>
            </a:r>
            <a:endParaRPr lang="en-IN" dirty="0"/>
          </a:p>
        </p:txBody>
      </p:sp>
      <p:sp>
        <p:nvSpPr>
          <p:cNvPr id="7" name="TextBox 6"/>
          <p:cNvSpPr txBox="1"/>
          <p:nvPr/>
        </p:nvSpPr>
        <p:spPr>
          <a:xfrm>
            <a:off x="5550569" y="4203032"/>
            <a:ext cx="4940968" cy="2308324"/>
          </a:xfrm>
          <a:prstGeom prst="rect">
            <a:avLst/>
          </a:prstGeom>
          <a:noFill/>
        </p:spPr>
        <p:txBody>
          <a:bodyPr wrap="square" rtlCol="0">
            <a:spAutoFit/>
          </a:bodyPr>
          <a:lstStyle/>
          <a:p>
            <a:r>
              <a:rPr lang="en-US" dirty="0"/>
              <a:t>India’s ambitious Zero Hunger </a:t>
            </a:r>
            <a:r>
              <a:rPr lang="en-US" dirty="0" err="1"/>
              <a:t>Programme</a:t>
            </a:r>
            <a:r>
              <a:rPr lang="en-US" dirty="0"/>
              <a:t> through interventions in farm sector </a:t>
            </a:r>
            <a:r>
              <a:rPr lang="en-US" dirty="0" smtClean="0"/>
              <a:t>was launched on 16 October 2017 focusing on </a:t>
            </a:r>
            <a:r>
              <a:rPr lang="en-US" dirty="0"/>
              <a:t>agriculture, nutrition and health in a symbiotic manner</a:t>
            </a:r>
            <a:r>
              <a:rPr lang="en-US" dirty="0" smtClean="0"/>
              <a:t>. </a:t>
            </a:r>
            <a:r>
              <a:rPr lang="en-US" dirty="0"/>
              <a:t>The </a:t>
            </a:r>
            <a:r>
              <a:rPr lang="en-US" dirty="0" err="1"/>
              <a:t>Programme</a:t>
            </a:r>
            <a:r>
              <a:rPr lang="en-US" dirty="0"/>
              <a:t> </a:t>
            </a:r>
            <a:r>
              <a:rPr lang="en-US" dirty="0" smtClean="0"/>
              <a:t>was </a:t>
            </a:r>
            <a:r>
              <a:rPr lang="en-US" dirty="0"/>
              <a:t>initiated by Indian Council of Agricultural Research (ICAR</a:t>
            </a:r>
            <a:r>
              <a:rPr lang="en-US" dirty="0" smtClean="0"/>
              <a:t>) to curb hunger in the nation</a:t>
            </a:r>
            <a:endParaRPr lang="en-IN" dirty="0"/>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b="7576"/>
          <a:stretch/>
        </p:blipFill>
        <p:spPr>
          <a:xfrm>
            <a:off x="5706968" y="1011453"/>
            <a:ext cx="4993116" cy="3064043"/>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908" y="4075496"/>
            <a:ext cx="4374148" cy="2460458"/>
          </a:xfrm>
          <a:prstGeom prst="rect">
            <a:avLst/>
          </a:prstGeom>
        </p:spPr>
      </p:pic>
    </p:spTree>
    <p:extLst>
      <p:ext uri="{BB962C8B-B14F-4D97-AF65-F5344CB8AC3E}">
        <p14:creationId xmlns:p14="http://schemas.microsoft.com/office/powerpoint/2010/main" val="58275519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advTm="37000">
        <p15:prstTrans prst="wind"/>
      </p:transition>
    </mc:Choice>
    <mc:Fallback>
      <p:transition spd="slow" advTm="37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31" presetClass="entr" presetSubtype="0" fill="hold" grpId="0" nodeType="afterEffect">
                                  <p:stCondLst>
                                    <p:cond delay="100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p:cTn id="11" dur="2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2" dur="2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3" dur="2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4" dur="2000"/>
                                        <p:tgtEl>
                                          <p:spTgt spid="3">
                                            <p:txEl>
                                              <p:pRg st="0" end="0"/>
                                            </p:txEl>
                                          </p:spTgt>
                                        </p:tgtEl>
                                      </p:cBhvr>
                                    </p:animEffect>
                                  </p:childTnLst>
                                </p:cTn>
                              </p:par>
                              <p:par>
                                <p:cTn id="15" presetID="30" presetClass="entr" presetSubtype="0" fill="hold" nodeType="withEffect">
                                  <p:stCondLst>
                                    <p:cond delay="300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600" decel="100000"/>
                                        <p:tgtEl>
                                          <p:spTgt spid="8"/>
                                        </p:tgtEl>
                                      </p:cBhvr>
                                    </p:animEffect>
                                    <p:anim calcmode="lin" valueType="num">
                                      <p:cBhvr>
                                        <p:cTn id="18" dur="1600" decel="100000" fill="hold"/>
                                        <p:tgtEl>
                                          <p:spTgt spid="8"/>
                                        </p:tgtEl>
                                        <p:attrNameLst>
                                          <p:attrName>style.rotation</p:attrName>
                                        </p:attrNameLst>
                                      </p:cBhvr>
                                      <p:tavLst>
                                        <p:tav tm="0">
                                          <p:val>
                                            <p:fltVal val="-90"/>
                                          </p:val>
                                        </p:tav>
                                        <p:tav tm="100000">
                                          <p:val>
                                            <p:fltVal val="0"/>
                                          </p:val>
                                        </p:tav>
                                      </p:tavLst>
                                    </p:anim>
                                    <p:anim calcmode="lin" valueType="num">
                                      <p:cBhvr>
                                        <p:cTn id="19" dur="1600" decel="100000" fill="hold"/>
                                        <p:tgtEl>
                                          <p:spTgt spid="8"/>
                                        </p:tgtEl>
                                        <p:attrNameLst>
                                          <p:attrName>ppt_x</p:attrName>
                                        </p:attrNameLst>
                                      </p:cBhvr>
                                      <p:tavLst>
                                        <p:tav tm="0">
                                          <p:val>
                                            <p:strVal val="#ppt_x+0.4"/>
                                          </p:val>
                                        </p:tav>
                                        <p:tav tm="100000">
                                          <p:val>
                                            <p:strVal val="#ppt_x-0.05"/>
                                          </p:val>
                                        </p:tav>
                                      </p:tavLst>
                                    </p:anim>
                                    <p:anim calcmode="lin" valueType="num">
                                      <p:cBhvr>
                                        <p:cTn id="20" dur="1600" decel="100000" fill="hold"/>
                                        <p:tgtEl>
                                          <p:spTgt spid="8"/>
                                        </p:tgtEl>
                                        <p:attrNameLst>
                                          <p:attrName>ppt_y</p:attrName>
                                        </p:attrNameLst>
                                      </p:cBhvr>
                                      <p:tavLst>
                                        <p:tav tm="0">
                                          <p:val>
                                            <p:strVal val="#ppt_y-0.4"/>
                                          </p:val>
                                        </p:tav>
                                        <p:tav tm="100000">
                                          <p:val>
                                            <p:strVal val="#ppt_y+0.1"/>
                                          </p:val>
                                        </p:tav>
                                      </p:tavLst>
                                    </p:anim>
                                    <p:anim calcmode="lin" valueType="num">
                                      <p:cBhvr>
                                        <p:cTn id="21" dur="400" accel="100000" fill="hold">
                                          <p:stCondLst>
                                            <p:cond delay="1600"/>
                                          </p:stCondLst>
                                        </p:cTn>
                                        <p:tgtEl>
                                          <p:spTgt spid="8"/>
                                        </p:tgtEl>
                                        <p:attrNameLst>
                                          <p:attrName>ppt_x</p:attrName>
                                        </p:attrNameLst>
                                      </p:cBhvr>
                                      <p:tavLst>
                                        <p:tav tm="0">
                                          <p:val>
                                            <p:strVal val="#ppt_x-0.05"/>
                                          </p:val>
                                        </p:tav>
                                        <p:tav tm="100000">
                                          <p:val>
                                            <p:strVal val="#ppt_x"/>
                                          </p:val>
                                        </p:tav>
                                      </p:tavLst>
                                    </p:anim>
                                    <p:anim calcmode="lin" valueType="num">
                                      <p:cBhvr>
                                        <p:cTn id="22" dur="400" accel="100000" fill="hold">
                                          <p:stCondLst>
                                            <p:cond delay="1600"/>
                                          </p:stCondLst>
                                        </p:cTn>
                                        <p:tgtEl>
                                          <p:spTgt spid="8"/>
                                        </p:tgtEl>
                                        <p:attrNameLst>
                                          <p:attrName>ppt_y</p:attrName>
                                        </p:attrNameLst>
                                      </p:cBhvr>
                                      <p:tavLst>
                                        <p:tav tm="0">
                                          <p:val>
                                            <p:strVal val="#ppt_y+0.1"/>
                                          </p:val>
                                        </p:tav>
                                        <p:tav tm="100000">
                                          <p:val>
                                            <p:strVal val="#ppt_y"/>
                                          </p:val>
                                        </p:tav>
                                      </p:tavLst>
                                    </p:anim>
                                  </p:childTnLst>
                                </p:cTn>
                              </p:par>
                              <p:par>
                                <p:cTn id="23" presetID="30" presetClass="entr" presetSubtype="0" fill="hold" nodeType="withEffect">
                                  <p:stCondLst>
                                    <p:cond delay="30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1600" decel="100000"/>
                                        <p:tgtEl>
                                          <p:spTgt spid="9"/>
                                        </p:tgtEl>
                                      </p:cBhvr>
                                    </p:animEffect>
                                    <p:anim calcmode="lin" valueType="num">
                                      <p:cBhvr>
                                        <p:cTn id="26" dur="1600" decel="100000" fill="hold"/>
                                        <p:tgtEl>
                                          <p:spTgt spid="9"/>
                                        </p:tgtEl>
                                        <p:attrNameLst>
                                          <p:attrName>style.rotation</p:attrName>
                                        </p:attrNameLst>
                                      </p:cBhvr>
                                      <p:tavLst>
                                        <p:tav tm="0">
                                          <p:val>
                                            <p:fltVal val="-90"/>
                                          </p:val>
                                        </p:tav>
                                        <p:tav tm="100000">
                                          <p:val>
                                            <p:fltVal val="0"/>
                                          </p:val>
                                        </p:tav>
                                      </p:tavLst>
                                    </p:anim>
                                    <p:anim calcmode="lin" valueType="num">
                                      <p:cBhvr>
                                        <p:cTn id="27" dur="1600" decel="100000" fill="hold"/>
                                        <p:tgtEl>
                                          <p:spTgt spid="9"/>
                                        </p:tgtEl>
                                        <p:attrNameLst>
                                          <p:attrName>ppt_x</p:attrName>
                                        </p:attrNameLst>
                                      </p:cBhvr>
                                      <p:tavLst>
                                        <p:tav tm="0">
                                          <p:val>
                                            <p:strVal val="#ppt_x+0.4"/>
                                          </p:val>
                                        </p:tav>
                                        <p:tav tm="100000">
                                          <p:val>
                                            <p:strVal val="#ppt_x-0.05"/>
                                          </p:val>
                                        </p:tav>
                                      </p:tavLst>
                                    </p:anim>
                                    <p:anim calcmode="lin" valueType="num">
                                      <p:cBhvr>
                                        <p:cTn id="28" dur="1600" decel="100000" fill="hold"/>
                                        <p:tgtEl>
                                          <p:spTgt spid="9"/>
                                        </p:tgtEl>
                                        <p:attrNameLst>
                                          <p:attrName>ppt_y</p:attrName>
                                        </p:attrNameLst>
                                      </p:cBhvr>
                                      <p:tavLst>
                                        <p:tav tm="0">
                                          <p:val>
                                            <p:strVal val="#ppt_y-0.4"/>
                                          </p:val>
                                        </p:tav>
                                        <p:tav tm="100000">
                                          <p:val>
                                            <p:strVal val="#ppt_y+0.1"/>
                                          </p:val>
                                        </p:tav>
                                      </p:tavLst>
                                    </p:anim>
                                    <p:anim calcmode="lin" valueType="num">
                                      <p:cBhvr>
                                        <p:cTn id="29" dur="400" accel="100000" fill="hold">
                                          <p:stCondLst>
                                            <p:cond delay="1600"/>
                                          </p:stCondLst>
                                        </p:cTn>
                                        <p:tgtEl>
                                          <p:spTgt spid="9"/>
                                        </p:tgtEl>
                                        <p:attrNameLst>
                                          <p:attrName>ppt_x</p:attrName>
                                        </p:attrNameLst>
                                      </p:cBhvr>
                                      <p:tavLst>
                                        <p:tav tm="0">
                                          <p:val>
                                            <p:strVal val="#ppt_x-0.05"/>
                                          </p:val>
                                        </p:tav>
                                        <p:tav tm="100000">
                                          <p:val>
                                            <p:strVal val="#ppt_x"/>
                                          </p:val>
                                        </p:tav>
                                      </p:tavLst>
                                    </p:anim>
                                    <p:anim calcmode="lin" valueType="num">
                                      <p:cBhvr>
                                        <p:cTn id="30" dur="400" accel="100000" fill="hold">
                                          <p:stCondLst>
                                            <p:cond delay="1600"/>
                                          </p:stCondLst>
                                        </p:cTn>
                                        <p:tgtEl>
                                          <p:spTgt spid="9"/>
                                        </p:tgtEl>
                                        <p:attrNameLst>
                                          <p:attrName>ppt_y</p:attrName>
                                        </p:attrNameLst>
                                      </p:cBhvr>
                                      <p:tavLst>
                                        <p:tav tm="0">
                                          <p:val>
                                            <p:strVal val="#ppt_y+0.1"/>
                                          </p:val>
                                        </p:tav>
                                        <p:tav tm="100000">
                                          <p:val>
                                            <p:strVal val="#ppt_y"/>
                                          </p:val>
                                        </p:tav>
                                      </p:tavLst>
                                    </p:anim>
                                  </p:childTnLst>
                                </p:cTn>
                              </p:par>
                            </p:childTnLst>
                          </p:cTn>
                        </p:par>
                        <p:par>
                          <p:cTn id="31" fill="hold">
                            <p:stCondLst>
                              <p:cond delay="7000"/>
                            </p:stCondLst>
                            <p:childTnLst>
                              <p:par>
                                <p:cTn id="32" presetID="31" presetClass="entr" presetSubtype="0" fill="hold" grpId="0" nodeType="afterEffect">
                                  <p:stCondLst>
                                    <p:cond delay="6000"/>
                                  </p:stCondLst>
                                  <p:childTnLst>
                                    <p:set>
                                      <p:cBhvr>
                                        <p:cTn id="33" dur="1" fill="hold">
                                          <p:stCondLst>
                                            <p:cond delay="0"/>
                                          </p:stCondLst>
                                        </p:cTn>
                                        <p:tgtEl>
                                          <p:spTgt spid="5"/>
                                        </p:tgtEl>
                                        <p:attrNameLst>
                                          <p:attrName>style.visibility</p:attrName>
                                        </p:attrNameLst>
                                      </p:cBhvr>
                                      <p:to>
                                        <p:strVal val="visible"/>
                                      </p:to>
                                    </p:set>
                                    <p:anim calcmode="lin" valueType="num">
                                      <p:cBhvr>
                                        <p:cTn id="34" dur="2000" fill="hold"/>
                                        <p:tgtEl>
                                          <p:spTgt spid="5"/>
                                        </p:tgtEl>
                                        <p:attrNameLst>
                                          <p:attrName>ppt_w</p:attrName>
                                        </p:attrNameLst>
                                      </p:cBhvr>
                                      <p:tavLst>
                                        <p:tav tm="0">
                                          <p:val>
                                            <p:fltVal val="0"/>
                                          </p:val>
                                        </p:tav>
                                        <p:tav tm="100000">
                                          <p:val>
                                            <p:strVal val="#ppt_w"/>
                                          </p:val>
                                        </p:tav>
                                      </p:tavLst>
                                    </p:anim>
                                    <p:anim calcmode="lin" valueType="num">
                                      <p:cBhvr>
                                        <p:cTn id="35" dur="2000" fill="hold"/>
                                        <p:tgtEl>
                                          <p:spTgt spid="5"/>
                                        </p:tgtEl>
                                        <p:attrNameLst>
                                          <p:attrName>ppt_h</p:attrName>
                                        </p:attrNameLst>
                                      </p:cBhvr>
                                      <p:tavLst>
                                        <p:tav tm="0">
                                          <p:val>
                                            <p:fltVal val="0"/>
                                          </p:val>
                                        </p:tav>
                                        <p:tav tm="100000">
                                          <p:val>
                                            <p:strVal val="#ppt_h"/>
                                          </p:val>
                                        </p:tav>
                                      </p:tavLst>
                                    </p:anim>
                                    <p:anim calcmode="lin" valueType="num">
                                      <p:cBhvr>
                                        <p:cTn id="36" dur="2000" fill="hold"/>
                                        <p:tgtEl>
                                          <p:spTgt spid="5"/>
                                        </p:tgtEl>
                                        <p:attrNameLst>
                                          <p:attrName>style.rotation</p:attrName>
                                        </p:attrNameLst>
                                      </p:cBhvr>
                                      <p:tavLst>
                                        <p:tav tm="0">
                                          <p:val>
                                            <p:fltVal val="90"/>
                                          </p:val>
                                        </p:tav>
                                        <p:tav tm="100000">
                                          <p:val>
                                            <p:fltVal val="0"/>
                                          </p:val>
                                        </p:tav>
                                      </p:tavLst>
                                    </p:anim>
                                    <p:animEffect transition="in" filter="fade">
                                      <p:cBhvr>
                                        <p:cTn id="37" dur="2000"/>
                                        <p:tgtEl>
                                          <p:spTgt spid="5"/>
                                        </p:tgtEl>
                                      </p:cBhvr>
                                    </p:animEffect>
                                  </p:childTnLst>
                                </p:cTn>
                              </p:par>
                            </p:childTnLst>
                          </p:cTn>
                        </p:par>
                        <p:par>
                          <p:cTn id="38" fill="hold">
                            <p:stCondLst>
                              <p:cond delay="15000"/>
                            </p:stCondLst>
                            <p:childTnLst>
                              <p:par>
                                <p:cTn id="39" presetID="14" presetClass="exit" presetSubtype="10" fill="hold" grpId="1" nodeType="afterEffect">
                                  <p:stCondLst>
                                    <p:cond delay="6000"/>
                                  </p:stCondLst>
                                  <p:childTnLst>
                                    <p:animEffect transition="out" filter="randombar(horizontal)">
                                      <p:cBhvr>
                                        <p:cTn id="40" dur="2000"/>
                                        <p:tgtEl>
                                          <p:spTgt spid="3">
                                            <p:txEl>
                                              <p:pRg st="0" end="0"/>
                                            </p:txEl>
                                          </p:spTgt>
                                        </p:tgtEl>
                                      </p:cBhvr>
                                    </p:animEffect>
                                    <p:set>
                                      <p:cBhvr>
                                        <p:cTn id="41" dur="1" fill="hold">
                                          <p:stCondLst>
                                            <p:cond delay="1999"/>
                                          </p:stCondLst>
                                        </p:cTn>
                                        <p:tgtEl>
                                          <p:spTgt spid="3">
                                            <p:txEl>
                                              <p:pRg st="0" end="0"/>
                                            </p:txEl>
                                          </p:spTgt>
                                        </p:tgtEl>
                                        <p:attrNameLst>
                                          <p:attrName>style.visibility</p:attrName>
                                        </p:attrNameLst>
                                      </p:cBhvr>
                                      <p:to>
                                        <p:strVal val="hidden"/>
                                      </p:to>
                                    </p:set>
                                  </p:childTnLst>
                                </p:cTn>
                              </p:par>
                              <p:par>
                                <p:cTn id="42" presetID="14" presetClass="entr" presetSubtype="10" fill="hold" grpId="0" nodeType="withEffect">
                                  <p:stCondLst>
                                    <p:cond delay="6000"/>
                                  </p:stCondLst>
                                  <p:childTnLst>
                                    <p:set>
                                      <p:cBhvr>
                                        <p:cTn id="43" dur="1" fill="hold">
                                          <p:stCondLst>
                                            <p:cond delay="0"/>
                                          </p:stCondLst>
                                        </p:cTn>
                                        <p:tgtEl>
                                          <p:spTgt spid="6"/>
                                        </p:tgtEl>
                                        <p:attrNameLst>
                                          <p:attrName>style.visibility</p:attrName>
                                        </p:attrNameLst>
                                      </p:cBhvr>
                                      <p:to>
                                        <p:strVal val="visible"/>
                                      </p:to>
                                    </p:set>
                                    <p:animEffect transition="in" filter="randombar(horizontal)">
                                      <p:cBhvr>
                                        <p:cTn id="44" dur="2000"/>
                                        <p:tgtEl>
                                          <p:spTgt spid="6"/>
                                        </p:tgtEl>
                                      </p:cBhvr>
                                    </p:animEffect>
                                  </p:childTnLst>
                                </p:cTn>
                              </p:par>
                            </p:childTnLst>
                          </p:cTn>
                        </p:par>
                        <p:par>
                          <p:cTn id="45" fill="hold">
                            <p:stCondLst>
                              <p:cond delay="23000"/>
                            </p:stCondLst>
                            <p:childTnLst>
                              <p:par>
                                <p:cTn id="46" presetID="14" presetClass="exit" presetSubtype="10" fill="hold" grpId="1" nodeType="afterEffect">
                                  <p:stCondLst>
                                    <p:cond delay="6000"/>
                                  </p:stCondLst>
                                  <p:childTnLst>
                                    <p:animEffect transition="out" filter="randombar(horizontal)">
                                      <p:cBhvr>
                                        <p:cTn id="47" dur="2000"/>
                                        <p:tgtEl>
                                          <p:spTgt spid="5"/>
                                        </p:tgtEl>
                                      </p:cBhvr>
                                    </p:animEffect>
                                    <p:set>
                                      <p:cBhvr>
                                        <p:cTn id="48" dur="1" fill="hold">
                                          <p:stCondLst>
                                            <p:cond delay="1999"/>
                                          </p:stCondLst>
                                        </p:cTn>
                                        <p:tgtEl>
                                          <p:spTgt spid="5"/>
                                        </p:tgtEl>
                                        <p:attrNameLst>
                                          <p:attrName>style.visibility</p:attrName>
                                        </p:attrNameLst>
                                      </p:cBhvr>
                                      <p:to>
                                        <p:strVal val="hidden"/>
                                      </p:to>
                                    </p:set>
                                  </p:childTnLst>
                                </p:cTn>
                              </p:par>
                              <p:par>
                                <p:cTn id="49" presetID="14" presetClass="entr" presetSubtype="10" fill="hold" grpId="0" nodeType="withEffect">
                                  <p:stCondLst>
                                    <p:cond delay="6000"/>
                                  </p:stCondLst>
                                  <p:childTnLst>
                                    <p:set>
                                      <p:cBhvr>
                                        <p:cTn id="50" dur="1" fill="hold">
                                          <p:stCondLst>
                                            <p:cond delay="0"/>
                                          </p:stCondLst>
                                        </p:cTn>
                                        <p:tgtEl>
                                          <p:spTgt spid="7"/>
                                        </p:tgtEl>
                                        <p:attrNameLst>
                                          <p:attrName>style.visibility</p:attrName>
                                        </p:attrNameLst>
                                      </p:cBhvr>
                                      <p:to>
                                        <p:strVal val="visible"/>
                                      </p:to>
                                    </p:set>
                                    <p:animEffect transition="in" filter="randombar(horizontal)">
                                      <p:cBhvr>
                                        <p:cTn id="51"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build="p"/>
      <p:bldP spid="5" grpId="0"/>
      <p:bldP spid="5" grpId="1"/>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Measures Against Hunger </a:t>
            </a:r>
            <a:r>
              <a:rPr lang="en-IN" smtClean="0"/>
              <a:t>in Nepal</a:t>
            </a:r>
            <a:br>
              <a:rPr lang="en-IN" smtClean="0"/>
            </a:br>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43482048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5A2F9111-B2DB-470C-BA56-608F9B658826}"/>
    </a:ext>
  </a:extLst>
</a:theme>
</file>

<file path=docProps/app.xml><?xml version="1.0" encoding="utf-8"?>
<Properties xmlns="http://schemas.openxmlformats.org/officeDocument/2006/extended-properties" xmlns:vt="http://schemas.openxmlformats.org/officeDocument/2006/docPropsVTypes">
  <Template>Ion</Template>
  <TotalTime>381</TotalTime>
  <Words>832</Words>
  <Application>Microsoft Office PowerPoint</Application>
  <PresentationFormat>Widescreen</PresentationFormat>
  <Paragraphs>36</Paragraphs>
  <Slides>9</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9</vt:i4>
      </vt:variant>
    </vt:vector>
  </HeadingPairs>
  <TitlesOfParts>
    <vt:vector size="21" baseType="lpstr">
      <vt:lpstr>Algerian</vt:lpstr>
      <vt:lpstr>Arial</vt:lpstr>
      <vt:lpstr>Arial Rounded MT Bold</vt:lpstr>
      <vt:lpstr>Baskerville Old Face</vt:lpstr>
      <vt:lpstr>Calibri</vt:lpstr>
      <vt:lpstr>Century Gothic</vt:lpstr>
      <vt:lpstr>Constantia</vt:lpstr>
      <vt:lpstr>Edwardian Script ITC</vt:lpstr>
      <vt:lpstr>Imprint MT Shadow</vt:lpstr>
      <vt:lpstr>Times New Roman</vt:lpstr>
      <vt:lpstr>Wingdings 3</vt:lpstr>
      <vt:lpstr>Ion</vt:lpstr>
      <vt:lpstr>PowerPoint Presentation</vt:lpstr>
      <vt:lpstr>Hunger in India </vt:lpstr>
      <vt:lpstr>What is hunger?</vt:lpstr>
      <vt:lpstr>Causes of hunger in India- </vt:lpstr>
      <vt:lpstr>Causes of hunger in Nepal- </vt:lpstr>
      <vt:lpstr>Extent of hunger in India  </vt:lpstr>
      <vt:lpstr>Extent of Hunger in Nepal</vt:lpstr>
      <vt:lpstr>Measures against Hunger in India</vt:lpstr>
      <vt:lpstr>Measures Against Hunger in Nepal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Priya Sood</dc:creator>
  <cp:lastModifiedBy>Ujjwal Kakar</cp:lastModifiedBy>
  <cp:revision>45</cp:revision>
  <dcterms:created xsi:type="dcterms:W3CDTF">2020-01-10T15:40:30Z</dcterms:created>
  <dcterms:modified xsi:type="dcterms:W3CDTF">2020-01-12T18:49:08Z</dcterms:modified>
</cp:coreProperties>
</file>